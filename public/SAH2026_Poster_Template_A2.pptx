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5116175" cy="21388388"/>
  <p:notesSz cx="21388388" cy="15116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832" y="-6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75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81558" y="452628"/>
            <a:ext cx="13952830" cy="3129077"/>
          </a:xfrm>
          <a:prstGeom prst="rect">
            <a:avLst/>
          </a:prstGeom>
          <a:solidFill>
            <a:srgbClr val="8C1D2F"/>
          </a:solidFill>
          <a:ln/>
        </p:spPr>
        <p:txBody>
          <a:bodyPr/>
          <a:lstStyle/>
          <a:p>
            <a:endParaRPr lang="en-US"/>
          </a:p>
        </p:txBody>
      </p:sp>
      <p:sp>
        <p:nvSpPr>
          <p:cNvPr id="3" name="Shape 1"/>
          <p:cNvSpPr/>
          <p:nvPr/>
        </p:nvSpPr>
        <p:spPr>
          <a:xfrm>
            <a:off x="840334" y="633679"/>
            <a:ext cx="1551737" cy="905256"/>
          </a:xfrm>
          <a:prstGeom prst="roundRect">
            <a:avLst>
              <a:gd name="adj" fmla="val 5051"/>
            </a:avLst>
          </a:prstGeom>
          <a:solidFill>
            <a:srgbClr val="5E101E"/>
          </a:solidFill>
          <a:ln w="9525">
            <a:solidFill>
              <a:srgbClr val="C9962C"/>
            </a:solidFill>
            <a:prstDash val="dash"/>
          </a:ln>
        </p:spPr>
        <p:txBody>
          <a:bodyPr/>
          <a:lstStyle/>
          <a:p>
            <a:endParaRPr lang="en-US"/>
          </a:p>
        </p:txBody>
      </p:sp>
      <p:sp>
        <p:nvSpPr>
          <p:cNvPr id="4" name="Text 2"/>
          <p:cNvSpPr/>
          <p:nvPr/>
        </p:nvSpPr>
        <p:spPr>
          <a:xfrm>
            <a:off x="840334" y="633679"/>
            <a:ext cx="1551737" cy="905256"/>
          </a:xfrm>
          <a:prstGeom prst="rect">
            <a:avLst/>
          </a:prstGeom>
          <a:noFill/>
          <a:ln/>
        </p:spPr>
        <p:txBody>
          <a:bodyPr wrap="square" lIns="0" tIns="0" rIns="0" bIns="0" rtlCol="0" anchor="ctr"/>
          <a:lstStyle/>
          <a:p>
            <a:pPr marL="0" indent="0" algn="ctr">
              <a:lnSpc>
                <a:spcPct val="95000"/>
              </a:lnSpc>
              <a:buNone/>
            </a:pPr>
            <a:r>
              <a:rPr lang="en-US" sz="990" b="1" dirty="0">
                <a:solidFill>
                  <a:srgbClr val="C9962C"/>
                </a:solidFill>
                <a:latin typeface="Calibri" pitchFamily="34" charset="0"/>
                <a:ea typeface="Calibri" pitchFamily="34" charset="-122"/>
                <a:cs typeface="Calibri" pitchFamily="34" charset="-120"/>
              </a:rPr>
              <a:t>INSTITUTE</a:t>
            </a:r>
            <a:endParaRPr lang="en-US" sz="990" dirty="0"/>
          </a:p>
          <a:p>
            <a:pPr marL="0" indent="0" algn="ctr">
              <a:lnSpc>
                <a:spcPct val="95000"/>
              </a:lnSpc>
              <a:buNone/>
            </a:pPr>
            <a:r>
              <a:rPr lang="en-US" sz="990" b="1" dirty="0">
                <a:solidFill>
                  <a:srgbClr val="C9962C"/>
                </a:solidFill>
                <a:latin typeface="Calibri" pitchFamily="34" charset="0"/>
                <a:ea typeface="Calibri" pitchFamily="34" charset="-122"/>
                <a:cs typeface="Calibri" pitchFamily="34" charset="-120"/>
              </a:rPr>
              <a:t>LOGO</a:t>
            </a:r>
            <a:endParaRPr lang="en-US" sz="990" dirty="0"/>
          </a:p>
        </p:txBody>
      </p:sp>
      <p:sp>
        <p:nvSpPr>
          <p:cNvPr id="5" name="Shape 3"/>
          <p:cNvSpPr/>
          <p:nvPr/>
        </p:nvSpPr>
        <p:spPr>
          <a:xfrm>
            <a:off x="12724790" y="633679"/>
            <a:ext cx="1551737" cy="905256"/>
          </a:xfrm>
          <a:prstGeom prst="roundRect">
            <a:avLst>
              <a:gd name="adj" fmla="val 5051"/>
            </a:avLst>
          </a:prstGeom>
          <a:solidFill>
            <a:srgbClr val="5E101E"/>
          </a:solidFill>
          <a:ln w="9525">
            <a:solidFill>
              <a:srgbClr val="C9962C"/>
            </a:solidFill>
            <a:prstDash val="dash"/>
          </a:ln>
        </p:spPr>
        <p:txBody>
          <a:bodyPr/>
          <a:lstStyle/>
          <a:p>
            <a:endParaRPr lang="en-US"/>
          </a:p>
        </p:txBody>
      </p:sp>
      <p:sp>
        <p:nvSpPr>
          <p:cNvPr id="6" name="Text 4"/>
          <p:cNvSpPr/>
          <p:nvPr/>
        </p:nvSpPr>
        <p:spPr>
          <a:xfrm>
            <a:off x="12724790" y="633679"/>
            <a:ext cx="1551737" cy="905256"/>
          </a:xfrm>
          <a:prstGeom prst="rect">
            <a:avLst/>
          </a:prstGeom>
          <a:noFill/>
          <a:ln/>
        </p:spPr>
        <p:txBody>
          <a:bodyPr wrap="square" lIns="0" tIns="0" rIns="0" bIns="0" rtlCol="0" anchor="ctr"/>
          <a:lstStyle/>
          <a:p>
            <a:pPr marL="0" indent="0" algn="ctr">
              <a:lnSpc>
                <a:spcPct val="95000"/>
              </a:lnSpc>
              <a:buNone/>
            </a:pPr>
            <a:r>
              <a:rPr lang="en-US" sz="990" b="1" dirty="0">
                <a:solidFill>
                  <a:srgbClr val="C9962C"/>
                </a:solidFill>
                <a:latin typeface="Calibri" pitchFamily="34" charset="0"/>
                <a:ea typeface="Calibri" pitchFamily="34" charset="-122"/>
                <a:cs typeface="Calibri" pitchFamily="34" charset="-120"/>
              </a:rPr>
              <a:t>SAH 2026</a:t>
            </a:r>
            <a:endParaRPr lang="en-US" sz="990" dirty="0"/>
          </a:p>
          <a:p>
            <a:pPr marL="0" indent="0" algn="ctr">
              <a:lnSpc>
                <a:spcPct val="95000"/>
              </a:lnSpc>
              <a:buNone/>
            </a:pPr>
            <a:r>
              <a:rPr lang="en-US" sz="990" b="1" dirty="0">
                <a:solidFill>
                  <a:srgbClr val="C9962C"/>
                </a:solidFill>
                <a:latin typeface="Calibri" pitchFamily="34" charset="0"/>
                <a:ea typeface="Calibri" pitchFamily="34" charset="-122"/>
                <a:cs typeface="Calibri" pitchFamily="34" charset="-120"/>
              </a:rPr>
              <a:t>LOGO</a:t>
            </a:r>
            <a:endParaRPr lang="en-US" sz="990" dirty="0"/>
          </a:p>
        </p:txBody>
      </p:sp>
      <p:sp>
        <p:nvSpPr>
          <p:cNvPr id="7" name="Text 5"/>
          <p:cNvSpPr/>
          <p:nvPr/>
        </p:nvSpPr>
        <p:spPr>
          <a:xfrm>
            <a:off x="2780690" y="685800"/>
            <a:ext cx="9556394" cy="387706"/>
          </a:xfrm>
          <a:prstGeom prst="rect">
            <a:avLst/>
          </a:prstGeom>
          <a:noFill/>
          <a:ln/>
        </p:spPr>
        <p:txBody>
          <a:bodyPr wrap="square" lIns="0" tIns="0" rIns="0" bIns="0" rtlCol="0" anchor="ctr"/>
          <a:lstStyle/>
          <a:p>
            <a:pPr marL="0" indent="0" algn="ctr">
              <a:buNone/>
            </a:pPr>
            <a:r>
              <a:rPr lang="en-US" sz="1480" b="1" kern="0" spc="200" dirty="0">
                <a:solidFill>
                  <a:srgbClr val="C9962C"/>
                </a:solidFill>
                <a:latin typeface="Calibri" pitchFamily="34" charset="0"/>
                <a:ea typeface="Calibri" pitchFamily="34" charset="-122"/>
                <a:cs typeface="Calibri" pitchFamily="34" charset="-120"/>
              </a:rPr>
              <a:t>SMART AMRITA HACKATHON 2026   ·   POSTER PRESENTATION</a:t>
            </a:r>
            <a:endParaRPr lang="en-US" sz="1480" dirty="0"/>
          </a:p>
        </p:txBody>
      </p:sp>
      <p:sp>
        <p:nvSpPr>
          <p:cNvPr id="8" name="Text 6"/>
          <p:cNvSpPr/>
          <p:nvPr/>
        </p:nvSpPr>
        <p:spPr>
          <a:xfrm>
            <a:off x="1164031" y="1073506"/>
            <a:ext cx="12789713" cy="1422806"/>
          </a:xfrm>
          <a:prstGeom prst="rect">
            <a:avLst/>
          </a:prstGeom>
          <a:noFill/>
          <a:ln/>
        </p:spPr>
        <p:txBody>
          <a:bodyPr wrap="square" lIns="0" tIns="0" rIns="0" bIns="0" rtlCol="0" anchor="ctr"/>
          <a:lstStyle/>
          <a:p>
            <a:pPr marL="0" indent="0" algn="ctr">
              <a:lnSpc>
                <a:spcPct val="92000"/>
              </a:lnSpc>
              <a:buNone/>
            </a:pPr>
            <a:r>
              <a:rPr lang="en-US" sz="3680" b="1" dirty="0">
                <a:solidFill>
                  <a:srgbClr val="FFFFFF"/>
                </a:solidFill>
                <a:latin typeface="Cambria" pitchFamily="34" charset="0"/>
                <a:ea typeface="Cambria" pitchFamily="34" charset="-122"/>
                <a:cs typeface="Cambria" pitchFamily="34" charset="-120"/>
              </a:rPr>
              <a:t>PROJECT TITLE GOES HERE — KEEP IT UNDER 15 WORDS AND SPECIFIC</a:t>
            </a:r>
            <a:endParaRPr lang="en-US" sz="3680" dirty="0"/>
          </a:p>
        </p:txBody>
      </p:sp>
      <p:sp>
        <p:nvSpPr>
          <p:cNvPr id="9" name="Text 7"/>
          <p:cNvSpPr/>
          <p:nvPr/>
        </p:nvSpPr>
        <p:spPr>
          <a:xfrm>
            <a:off x="1099109" y="2547518"/>
            <a:ext cx="12918643" cy="387706"/>
          </a:xfrm>
          <a:prstGeom prst="rect">
            <a:avLst/>
          </a:prstGeom>
          <a:noFill/>
          <a:ln/>
        </p:spPr>
        <p:txBody>
          <a:bodyPr wrap="square" lIns="0" tIns="0" rIns="0" bIns="0" rtlCol="0" anchor="ctr"/>
          <a:lstStyle/>
          <a:p>
            <a:pPr marL="0" indent="0" algn="ctr">
              <a:buNone/>
            </a:pPr>
            <a:r>
              <a:rPr lang="en-US" sz="1840" b="1" dirty="0">
                <a:solidFill>
                  <a:srgbClr val="FFFFFF"/>
                </a:solidFill>
                <a:latin typeface="Calibri" pitchFamily="34" charset="0"/>
                <a:ea typeface="Calibri" pitchFamily="34" charset="-122"/>
                <a:cs typeface="Calibri" pitchFamily="34" charset="-120"/>
              </a:rPr>
              <a:t>Student Name      |      Guide: Dr. [Faculty Name]</a:t>
            </a:r>
            <a:endParaRPr lang="en-US" sz="1840" dirty="0"/>
          </a:p>
        </p:txBody>
      </p:sp>
      <p:sp>
        <p:nvSpPr>
          <p:cNvPr id="10" name="Text 8"/>
          <p:cNvSpPr/>
          <p:nvPr/>
        </p:nvSpPr>
        <p:spPr>
          <a:xfrm>
            <a:off x="1099109" y="2961742"/>
            <a:ext cx="12918643" cy="284378"/>
          </a:xfrm>
          <a:prstGeom prst="rect">
            <a:avLst/>
          </a:prstGeom>
          <a:noFill/>
          <a:ln/>
        </p:spPr>
        <p:txBody>
          <a:bodyPr wrap="square" lIns="0" tIns="0" rIns="0" bIns="0" rtlCol="0" anchor="ctr"/>
          <a:lstStyle/>
          <a:p>
            <a:pPr marL="0" indent="0" algn="ctr">
              <a:buNone/>
            </a:pPr>
            <a:r>
              <a:rPr lang="en-US" sz="1340" dirty="0">
                <a:solidFill>
                  <a:srgbClr val="F2D9DE"/>
                </a:solidFill>
                <a:latin typeface="Calibri" pitchFamily="34" charset="0"/>
                <a:ea typeface="Calibri" pitchFamily="34" charset="-122"/>
                <a:cs typeface="Calibri" pitchFamily="34" charset="-120"/>
              </a:rPr>
              <a:t>Programme &amp; Semester  ·  Department  —  Amrita School of Engineering and Computing, Chennai Campus</a:t>
            </a:r>
            <a:endParaRPr lang="en-US" sz="1340" dirty="0"/>
          </a:p>
        </p:txBody>
      </p:sp>
      <p:sp>
        <p:nvSpPr>
          <p:cNvPr id="11" name="Shape 9"/>
          <p:cNvSpPr/>
          <p:nvPr/>
        </p:nvSpPr>
        <p:spPr>
          <a:xfrm>
            <a:off x="2126894" y="3336646"/>
            <a:ext cx="10862158" cy="543154"/>
          </a:xfrm>
          <a:prstGeom prst="roundRect">
            <a:avLst>
              <a:gd name="adj" fmla="val 84175"/>
            </a:avLst>
          </a:prstGeom>
          <a:solidFill>
            <a:srgbClr val="C9962C"/>
          </a:solidFill>
          <a:ln/>
          <a:effectLst>
            <a:outerShdw blurRad="76200" dist="12700" dir="5400000" algn="bl" rotWithShape="0">
              <a:srgbClr val="000000">
                <a:alpha val="18000"/>
              </a:srgbClr>
            </a:outerShdw>
          </a:effectLst>
        </p:spPr>
        <p:txBody>
          <a:bodyPr/>
          <a:lstStyle/>
          <a:p>
            <a:endParaRPr lang="en-US"/>
          </a:p>
        </p:txBody>
      </p:sp>
      <p:sp>
        <p:nvSpPr>
          <p:cNvPr id="12" name="Text 10"/>
          <p:cNvSpPr/>
          <p:nvPr/>
        </p:nvSpPr>
        <p:spPr>
          <a:xfrm>
            <a:off x="2126894" y="3336646"/>
            <a:ext cx="10862158" cy="543154"/>
          </a:xfrm>
          <a:prstGeom prst="rect">
            <a:avLst/>
          </a:prstGeom>
          <a:noFill/>
          <a:ln/>
        </p:spPr>
        <p:txBody>
          <a:bodyPr wrap="square" lIns="0" tIns="0" rIns="0" bIns="0" rtlCol="0" anchor="ctr"/>
          <a:lstStyle/>
          <a:p>
            <a:pPr marL="0" indent="0" algn="ctr">
              <a:buNone/>
            </a:pPr>
            <a:r>
              <a:rPr lang="en-US" sz="1630" b="1" kern="0" spc="100" dirty="0">
                <a:solidFill>
                  <a:srgbClr val="5E101E"/>
                </a:solidFill>
                <a:latin typeface="Calibri" pitchFamily="34" charset="0"/>
                <a:ea typeface="Calibri" pitchFamily="34" charset="-122"/>
                <a:cs typeface="Calibri" pitchFamily="34" charset="-120"/>
              </a:rPr>
              <a:t>TRACK T__  ·  TRACK NAME AS PER GUIDELINES        POSTER ID: P-T__-__</a:t>
            </a:r>
            <a:endParaRPr lang="en-US" sz="1630" dirty="0"/>
          </a:p>
        </p:txBody>
      </p:sp>
      <p:sp>
        <p:nvSpPr>
          <p:cNvPr id="13" name="Shape 11"/>
          <p:cNvSpPr/>
          <p:nvPr/>
        </p:nvSpPr>
        <p:spPr>
          <a:xfrm>
            <a:off x="581558" y="4137660"/>
            <a:ext cx="6783019" cy="2715768"/>
          </a:xfrm>
          <a:prstGeom prst="roundRect">
            <a:avLst>
              <a:gd name="adj" fmla="val 1010"/>
            </a:avLst>
          </a:prstGeom>
          <a:solidFill>
            <a:srgbClr val="F4F5F7"/>
          </a:solidFill>
          <a:ln w="9525">
            <a:solidFill>
              <a:srgbClr val="DCE0E6"/>
            </a:solidFill>
            <a:prstDash val="solid"/>
          </a:ln>
        </p:spPr>
        <p:txBody>
          <a:bodyPr/>
          <a:lstStyle/>
          <a:p>
            <a:endParaRPr lang="en-US"/>
          </a:p>
        </p:txBody>
      </p:sp>
      <p:sp>
        <p:nvSpPr>
          <p:cNvPr id="14" name="Shape 12"/>
          <p:cNvSpPr/>
          <p:nvPr/>
        </p:nvSpPr>
        <p:spPr>
          <a:xfrm>
            <a:off x="892454" y="4396435"/>
            <a:ext cx="465430" cy="465430"/>
          </a:xfrm>
          <a:prstGeom prst="ellipse">
            <a:avLst/>
          </a:prstGeom>
          <a:solidFill>
            <a:srgbClr val="8C1D2F"/>
          </a:solidFill>
          <a:ln/>
        </p:spPr>
        <p:txBody>
          <a:bodyPr/>
          <a:lstStyle/>
          <a:p>
            <a:endParaRPr lang="en-US"/>
          </a:p>
        </p:txBody>
      </p:sp>
      <p:sp>
        <p:nvSpPr>
          <p:cNvPr id="15" name="Text 13"/>
          <p:cNvSpPr/>
          <p:nvPr/>
        </p:nvSpPr>
        <p:spPr>
          <a:xfrm>
            <a:off x="892454" y="4396435"/>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1</a:t>
            </a:r>
            <a:endParaRPr lang="en-US" sz="1270" dirty="0"/>
          </a:p>
        </p:txBody>
      </p:sp>
      <p:sp>
        <p:nvSpPr>
          <p:cNvPr id="16" name="Text 14"/>
          <p:cNvSpPr/>
          <p:nvPr/>
        </p:nvSpPr>
        <p:spPr>
          <a:xfrm>
            <a:off x="1486814" y="4358030"/>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PROBLEM STATEMENT</a:t>
            </a:r>
            <a:endParaRPr lang="en-US" sz="2120" dirty="0"/>
          </a:p>
        </p:txBody>
      </p:sp>
      <p:sp>
        <p:nvSpPr>
          <p:cNvPr id="17" name="Text 15"/>
          <p:cNvSpPr/>
          <p:nvPr/>
        </p:nvSpPr>
        <p:spPr>
          <a:xfrm>
            <a:off x="1486814" y="4861865"/>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One or two sentences. What is wrong today, and for whom?</a:t>
            </a:r>
            <a:endParaRPr lang="en-US" sz="1130" dirty="0"/>
          </a:p>
        </p:txBody>
      </p:sp>
      <p:sp>
        <p:nvSpPr>
          <p:cNvPr id="18" name="Text 16"/>
          <p:cNvSpPr/>
          <p:nvPr/>
        </p:nvSpPr>
        <p:spPr>
          <a:xfrm>
            <a:off x="943661" y="5147158"/>
            <a:ext cx="6058814" cy="1526134"/>
          </a:xfrm>
          <a:prstGeom prst="rect">
            <a:avLst/>
          </a:prstGeom>
          <a:noFill/>
          <a:ln/>
        </p:spPr>
        <p:txBody>
          <a:bodyPr wrap="square" lIns="0" tIns="0" rIns="0" bIns="0" rtlCol="0" anchor="t"/>
          <a:lstStyle/>
          <a:p>
            <a:pPr marL="0" indent="0" algn="just">
              <a:lnSpc>
                <a:spcPct val="102000"/>
              </a:lnSpc>
              <a:buNone/>
            </a:pPr>
            <a:r>
              <a:rPr lang="en-US" sz="1480" i="1" dirty="0">
                <a:solidFill>
                  <a:srgbClr val="5B6672"/>
                </a:solidFill>
                <a:latin typeface="Calibri" pitchFamily="34" charset="0"/>
                <a:ea typeface="Calibri" pitchFamily="34" charset="-122"/>
                <a:cs typeface="Calibri" pitchFamily="34" charset="-120"/>
              </a:rPr>
              <a:t>One or two sentences. What is wrong today, and for whom? No textbook definitions, no history of the field. A jury member from another department must understand the problem from these lines alone.</a:t>
            </a:r>
            <a:endParaRPr lang="en-US" sz="1480" dirty="0"/>
          </a:p>
        </p:txBody>
      </p:sp>
      <p:sp>
        <p:nvSpPr>
          <p:cNvPr id="19" name="Shape 17"/>
          <p:cNvSpPr/>
          <p:nvPr/>
        </p:nvSpPr>
        <p:spPr>
          <a:xfrm>
            <a:off x="581558" y="7242048"/>
            <a:ext cx="6783019" cy="2715768"/>
          </a:xfrm>
          <a:prstGeom prst="roundRect">
            <a:avLst>
              <a:gd name="adj" fmla="val 1010"/>
            </a:avLst>
          </a:prstGeom>
          <a:solidFill>
            <a:srgbClr val="F4F5F7"/>
          </a:solidFill>
          <a:ln w="9525">
            <a:solidFill>
              <a:srgbClr val="DCE0E6"/>
            </a:solidFill>
            <a:prstDash val="solid"/>
          </a:ln>
        </p:spPr>
        <p:txBody>
          <a:bodyPr/>
          <a:lstStyle/>
          <a:p>
            <a:endParaRPr lang="en-US"/>
          </a:p>
        </p:txBody>
      </p:sp>
      <p:sp>
        <p:nvSpPr>
          <p:cNvPr id="20" name="Shape 18"/>
          <p:cNvSpPr/>
          <p:nvPr/>
        </p:nvSpPr>
        <p:spPr>
          <a:xfrm>
            <a:off x="892454" y="7499909"/>
            <a:ext cx="465430" cy="465430"/>
          </a:xfrm>
          <a:prstGeom prst="ellipse">
            <a:avLst/>
          </a:prstGeom>
          <a:solidFill>
            <a:srgbClr val="8C1D2F"/>
          </a:solidFill>
          <a:ln/>
        </p:spPr>
        <p:txBody>
          <a:bodyPr/>
          <a:lstStyle/>
          <a:p>
            <a:endParaRPr lang="en-US"/>
          </a:p>
        </p:txBody>
      </p:sp>
      <p:sp>
        <p:nvSpPr>
          <p:cNvPr id="21" name="Text 19"/>
          <p:cNvSpPr/>
          <p:nvPr/>
        </p:nvSpPr>
        <p:spPr>
          <a:xfrm>
            <a:off x="892454" y="7499909"/>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2</a:t>
            </a:r>
            <a:endParaRPr lang="en-US" sz="1270" dirty="0"/>
          </a:p>
        </p:txBody>
      </p:sp>
      <p:sp>
        <p:nvSpPr>
          <p:cNvPr id="22" name="Text 20"/>
          <p:cNvSpPr/>
          <p:nvPr/>
        </p:nvSpPr>
        <p:spPr>
          <a:xfrm>
            <a:off x="1486814" y="7461504"/>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OBJECTIVES</a:t>
            </a:r>
            <a:endParaRPr lang="en-US" sz="2120" dirty="0"/>
          </a:p>
        </p:txBody>
      </p:sp>
      <p:sp>
        <p:nvSpPr>
          <p:cNvPr id="23" name="Text 21"/>
          <p:cNvSpPr/>
          <p:nvPr/>
        </p:nvSpPr>
        <p:spPr>
          <a:xfrm>
            <a:off x="1486814" y="7966253"/>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3–5 objectives. Each must be measurable.</a:t>
            </a:r>
            <a:endParaRPr lang="en-US" sz="1130" dirty="0"/>
          </a:p>
        </p:txBody>
      </p:sp>
      <p:sp>
        <p:nvSpPr>
          <p:cNvPr id="24" name="Text 22"/>
          <p:cNvSpPr/>
          <p:nvPr/>
        </p:nvSpPr>
        <p:spPr>
          <a:xfrm>
            <a:off x="943661" y="8250631"/>
            <a:ext cx="6058814" cy="1551737"/>
          </a:xfrm>
          <a:prstGeom prst="rect">
            <a:avLst/>
          </a:prstGeom>
          <a:noFill/>
          <a:ln/>
        </p:spPr>
        <p:txBody>
          <a:bodyPr wrap="square" lIns="0" tIns="0" rIns="0" bIns="0" rtlCol="0" anchor="t"/>
          <a:lstStyle/>
          <a:p>
            <a:pPr marL="215532" indent="-215532" algn="just">
              <a:lnSpc>
                <a:spcPct val="102000"/>
              </a:lnSpc>
              <a:spcAft>
                <a:spcPts val="570"/>
              </a:spcAft>
              <a:buSzPct val="100000"/>
              <a:buChar char="•"/>
            </a:pPr>
            <a:r>
              <a:rPr lang="en-US" sz="1480" i="1" dirty="0">
                <a:solidFill>
                  <a:srgbClr val="5B6672"/>
                </a:solidFill>
                <a:latin typeface="Calibri" pitchFamily="34" charset="0"/>
                <a:ea typeface="Calibri" pitchFamily="34" charset="-122"/>
                <a:cs typeface="Calibri" pitchFamily="34" charset="-120"/>
              </a:rPr>
              <a:t>Objective 1 — begin with a verb: design, fabricate, model, measure, validate.</a:t>
            </a:r>
            <a:endParaRPr lang="en-US" sz="1480" dirty="0"/>
          </a:p>
          <a:p>
            <a:pPr marL="215532" indent="-215532" algn="just">
              <a:lnSpc>
                <a:spcPct val="102000"/>
              </a:lnSpc>
              <a:spcAft>
                <a:spcPts val="570"/>
              </a:spcAft>
              <a:buSzPct val="100000"/>
              <a:buChar char="•"/>
            </a:pPr>
            <a:r>
              <a:rPr lang="en-US" sz="1480" i="1" dirty="0">
                <a:solidFill>
                  <a:srgbClr val="5B6672"/>
                </a:solidFill>
                <a:latin typeface="Calibri" pitchFamily="34" charset="0"/>
                <a:ea typeface="Calibri" pitchFamily="34" charset="-122"/>
                <a:cs typeface="Calibri" pitchFamily="34" charset="-120"/>
              </a:rPr>
              <a:t>Objective 2 — attach a number or a threshold wherever you can.</a:t>
            </a:r>
            <a:endParaRPr lang="en-US" sz="1480" dirty="0"/>
          </a:p>
          <a:p>
            <a:pPr marL="215532" indent="-215532" algn="just">
              <a:lnSpc>
                <a:spcPct val="102000"/>
              </a:lnSpc>
              <a:spcAft>
                <a:spcPts val="570"/>
              </a:spcAft>
              <a:buSzPct val="100000"/>
              <a:buChar char="•"/>
            </a:pPr>
            <a:r>
              <a:rPr lang="en-US" sz="1480" i="1" dirty="0">
                <a:solidFill>
                  <a:srgbClr val="5B6672"/>
                </a:solidFill>
                <a:latin typeface="Calibri" pitchFamily="34" charset="0"/>
                <a:ea typeface="Calibri" pitchFamily="34" charset="-122"/>
                <a:cs typeface="Calibri" pitchFamily="34" charset="-120"/>
              </a:rPr>
              <a:t>Objective 3 — say what will be compared against what.</a:t>
            </a:r>
            <a:endParaRPr lang="en-US" sz="1480" dirty="0"/>
          </a:p>
          <a:p>
            <a:pPr marL="215532" indent="-215532" algn="just">
              <a:lnSpc>
                <a:spcPct val="102000"/>
              </a:lnSpc>
              <a:spcAft>
                <a:spcPts val="570"/>
              </a:spcAft>
              <a:buSzPct val="100000"/>
              <a:buChar char="•"/>
            </a:pPr>
            <a:r>
              <a:rPr lang="en-US" sz="1480" i="1" dirty="0">
                <a:solidFill>
                  <a:srgbClr val="5B6672"/>
                </a:solidFill>
                <a:latin typeface="Calibri" pitchFamily="34" charset="0"/>
                <a:ea typeface="Calibri" pitchFamily="34" charset="-122"/>
                <a:cs typeface="Calibri" pitchFamily="34" charset="-120"/>
              </a:rPr>
              <a:t>Objective 4 — state how you will know the objective was met.</a:t>
            </a:r>
            <a:endParaRPr lang="en-US" sz="1480" dirty="0"/>
          </a:p>
        </p:txBody>
      </p:sp>
      <p:sp>
        <p:nvSpPr>
          <p:cNvPr id="25" name="Shape 23"/>
          <p:cNvSpPr/>
          <p:nvPr/>
        </p:nvSpPr>
        <p:spPr>
          <a:xfrm>
            <a:off x="581558" y="10345522"/>
            <a:ext cx="6783019" cy="5042916"/>
          </a:xfrm>
          <a:prstGeom prst="roundRect">
            <a:avLst>
              <a:gd name="adj" fmla="val 544"/>
            </a:avLst>
          </a:prstGeom>
          <a:solidFill>
            <a:srgbClr val="F4F5F7"/>
          </a:solidFill>
          <a:ln w="9525">
            <a:solidFill>
              <a:srgbClr val="DCE0E6"/>
            </a:solidFill>
            <a:prstDash val="solid"/>
          </a:ln>
        </p:spPr>
        <p:txBody>
          <a:bodyPr/>
          <a:lstStyle/>
          <a:p>
            <a:endParaRPr lang="en-US"/>
          </a:p>
        </p:txBody>
      </p:sp>
      <p:sp>
        <p:nvSpPr>
          <p:cNvPr id="26" name="Shape 24"/>
          <p:cNvSpPr/>
          <p:nvPr/>
        </p:nvSpPr>
        <p:spPr>
          <a:xfrm>
            <a:off x="892454" y="10604297"/>
            <a:ext cx="465430" cy="465430"/>
          </a:xfrm>
          <a:prstGeom prst="ellipse">
            <a:avLst/>
          </a:prstGeom>
          <a:solidFill>
            <a:srgbClr val="8C1D2F"/>
          </a:solidFill>
          <a:ln/>
        </p:spPr>
        <p:txBody>
          <a:bodyPr/>
          <a:lstStyle/>
          <a:p>
            <a:endParaRPr lang="en-US"/>
          </a:p>
        </p:txBody>
      </p:sp>
      <p:sp>
        <p:nvSpPr>
          <p:cNvPr id="27" name="Text 25"/>
          <p:cNvSpPr/>
          <p:nvPr/>
        </p:nvSpPr>
        <p:spPr>
          <a:xfrm>
            <a:off x="892454" y="10604297"/>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3</a:t>
            </a:r>
            <a:endParaRPr lang="en-US" sz="1270" dirty="0"/>
          </a:p>
        </p:txBody>
      </p:sp>
      <p:sp>
        <p:nvSpPr>
          <p:cNvPr id="28" name="Text 26"/>
          <p:cNvSpPr/>
          <p:nvPr/>
        </p:nvSpPr>
        <p:spPr>
          <a:xfrm>
            <a:off x="1486814" y="10564978"/>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METHODOLOGY</a:t>
            </a:r>
            <a:endParaRPr lang="en-US" sz="2120" dirty="0"/>
          </a:p>
        </p:txBody>
      </p:sp>
      <p:sp>
        <p:nvSpPr>
          <p:cNvPr id="29" name="Text 27"/>
          <p:cNvSpPr/>
          <p:nvPr/>
        </p:nvSpPr>
        <p:spPr>
          <a:xfrm>
            <a:off x="1486814" y="11069726"/>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Show a flow — do not write a paragraph here.</a:t>
            </a:r>
            <a:endParaRPr lang="en-US" sz="1130" dirty="0"/>
          </a:p>
        </p:txBody>
      </p:sp>
      <p:sp>
        <p:nvSpPr>
          <p:cNvPr id="30" name="Shape 28"/>
          <p:cNvSpPr/>
          <p:nvPr/>
        </p:nvSpPr>
        <p:spPr>
          <a:xfrm>
            <a:off x="943661" y="11354105"/>
            <a:ext cx="6058814" cy="646481"/>
          </a:xfrm>
          <a:prstGeom prst="roundRect">
            <a:avLst>
              <a:gd name="adj" fmla="val 8487"/>
            </a:avLst>
          </a:prstGeom>
          <a:solidFill>
            <a:srgbClr val="FFFFFF"/>
          </a:solidFill>
          <a:ln w="13970">
            <a:solidFill>
              <a:srgbClr val="8C1D2F"/>
            </a:solidFill>
            <a:prstDash val="solid"/>
          </a:ln>
        </p:spPr>
        <p:txBody>
          <a:bodyPr/>
          <a:lstStyle/>
          <a:p>
            <a:endParaRPr lang="en-US"/>
          </a:p>
        </p:txBody>
      </p:sp>
      <p:sp>
        <p:nvSpPr>
          <p:cNvPr id="31" name="Shape 29"/>
          <p:cNvSpPr/>
          <p:nvPr/>
        </p:nvSpPr>
        <p:spPr>
          <a:xfrm>
            <a:off x="1111910" y="11483035"/>
            <a:ext cx="387706" cy="387706"/>
          </a:xfrm>
          <a:prstGeom prst="ellipse">
            <a:avLst/>
          </a:prstGeom>
          <a:solidFill>
            <a:srgbClr val="8C1D2F"/>
          </a:solidFill>
          <a:ln/>
        </p:spPr>
        <p:txBody>
          <a:bodyPr/>
          <a:lstStyle/>
          <a:p>
            <a:endParaRPr lang="en-US"/>
          </a:p>
        </p:txBody>
      </p:sp>
      <p:sp>
        <p:nvSpPr>
          <p:cNvPr id="32" name="Text 30"/>
          <p:cNvSpPr/>
          <p:nvPr/>
        </p:nvSpPr>
        <p:spPr>
          <a:xfrm>
            <a:off x="1111910" y="11483035"/>
            <a:ext cx="387706" cy="387706"/>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1</a:t>
            </a:r>
            <a:endParaRPr lang="en-US" sz="1270" dirty="0"/>
          </a:p>
        </p:txBody>
      </p:sp>
      <p:sp>
        <p:nvSpPr>
          <p:cNvPr id="33" name="Text 31"/>
          <p:cNvSpPr/>
          <p:nvPr/>
        </p:nvSpPr>
        <p:spPr>
          <a:xfrm>
            <a:off x="1616659" y="11354105"/>
            <a:ext cx="5204765" cy="646481"/>
          </a:xfrm>
          <a:prstGeom prst="rect">
            <a:avLst/>
          </a:prstGeom>
          <a:noFill/>
          <a:ln/>
        </p:spPr>
        <p:txBody>
          <a:bodyPr wrap="square" lIns="0" tIns="0" rIns="0" bIns="0" rtlCol="0" anchor="ctr"/>
          <a:lstStyle/>
          <a:p>
            <a:pPr marL="0" indent="0">
              <a:lnSpc>
                <a:spcPct val="95000"/>
              </a:lnSpc>
              <a:buNone/>
            </a:pPr>
            <a:r>
              <a:rPr lang="en-US" sz="1340" i="1" dirty="0">
                <a:solidFill>
                  <a:srgbClr val="5B6672"/>
                </a:solidFill>
                <a:latin typeface="Calibri" pitchFamily="34" charset="0"/>
                <a:ea typeface="Calibri" pitchFamily="34" charset="-122"/>
                <a:cs typeface="Calibri" pitchFamily="34" charset="-120"/>
              </a:rPr>
              <a:t>Step 1 — what you did first (input, material, dataset, survey)</a:t>
            </a:r>
            <a:endParaRPr lang="en-US" sz="1340" dirty="0"/>
          </a:p>
        </p:txBody>
      </p:sp>
      <p:sp>
        <p:nvSpPr>
          <p:cNvPr id="34" name="Shape 32"/>
          <p:cNvSpPr/>
          <p:nvPr/>
        </p:nvSpPr>
        <p:spPr>
          <a:xfrm>
            <a:off x="3882542" y="12017045"/>
            <a:ext cx="181051" cy="103327"/>
          </a:xfrm>
          <a:prstGeom prst="downArrow">
            <a:avLst/>
          </a:prstGeom>
          <a:solidFill>
            <a:srgbClr val="DCE0E6"/>
          </a:solidFill>
          <a:ln/>
        </p:spPr>
        <p:txBody>
          <a:bodyPr/>
          <a:lstStyle/>
          <a:p>
            <a:endParaRPr lang="en-US"/>
          </a:p>
        </p:txBody>
      </p:sp>
      <p:sp>
        <p:nvSpPr>
          <p:cNvPr id="35" name="Shape 33"/>
          <p:cNvSpPr/>
          <p:nvPr/>
        </p:nvSpPr>
        <p:spPr>
          <a:xfrm>
            <a:off x="943661" y="12135917"/>
            <a:ext cx="6058814" cy="646481"/>
          </a:xfrm>
          <a:prstGeom prst="roundRect">
            <a:avLst>
              <a:gd name="adj" fmla="val 8487"/>
            </a:avLst>
          </a:prstGeom>
          <a:solidFill>
            <a:srgbClr val="FFFFFF"/>
          </a:solidFill>
          <a:ln w="13970">
            <a:solidFill>
              <a:srgbClr val="C9962C"/>
            </a:solidFill>
            <a:prstDash val="solid"/>
          </a:ln>
        </p:spPr>
        <p:txBody>
          <a:bodyPr/>
          <a:lstStyle/>
          <a:p>
            <a:endParaRPr lang="en-US"/>
          </a:p>
        </p:txBody>
      </p:sp>
      <p:sp>
        <p:nvSpPr>
          <p:cNvPr id="36" name="Shape 34"/>
          <p:cNvSpPr/>
          <p:nvPr/>
        </p:nvSpPr>
        <p:spPr>
          <a:xfrm>
            <a:off x="1111910" y="12265762"/>
            <a:ext cx="387706" cy="387706"/>
          </a:xfrm>
          <a:prstGeom prst="ellipse">
            <a:avLst/>
          </a:prstGeom>
          <a:solidFill>
            <a:srgbClr val="C9962C"/>
          </a:solidFill>
          <a:ln/>
        </p:spPr>
        <p:txBody>
          <a:bodyPr/>
          <a:lstStyle/>
          <a:p>
            <a:endParaRPr lang="en-US"/>
          </a:p>
        </p:txBody>
      </p:sp>
      <p:sp>
        <p:nvSpPr>
          <p:cNvPr id="37" name="Text 35"/>
          <p:cNvSpPr/>
          <p:nvPr/>
        </p:nvSpPr>
        <p:spPr>
          <a:xfrm>
            <a:off x="1111910" y="12265762"/>
            <a:ext cx="387706" cy="387706"/>
          </a:xfrm>
          <a:prstGeom prst="rect">
            <a:avLst/>
          </a:prstGeom>
          <a:noFill/>
          <a:ln/>
        </p:spPr>
        <p:txBody>
          <a:bodyPr wrap="square" lIns="0" tIns="0" rIns="0" bIns="0" rtlCol="0" anchor="ctr"/>
          <a:lstStyle/>
          <a:p>
            <a:pPr marL="0" indent="0" algn="ctr">
              <a:buNone/>
            </a:pPr>
            <a:r>
              <a:rPr lang="en-US" sz="1270" b="1" dirty="0">
                <a:solidFill>
                  <a:srgbClr val="5E101E"/>
                </a:solidFill>
                <a:latin typeface="Calibri" pitchFamily="34" charset="0"/>
                <a:ea typeface="Calibri" pitchFamily="34" charset="-122"/>
                <a:cs typeface="Calibri" pitchFamily="34" charset="-120"/>
              </a:rPr>
              <a:t>2</a:t>
            </a:r>
            <a:endParaRPr lang="en-US" sz="1270" dirty="0"/>
          </a:p>
        </p:txBody>
      </p:sp>
      <p:sp>
        <p:nvSpPr>
          <p:cNvPr id="38" name="Text 36"/>
          <p:cNvSpPr/>
          <p:nvPr/>
        </p:nvSpPr>
        <p:spPr>
          <a:xfrm>
            <a:off x="1616659" y="12135917"/>
            <a:ext cx="5204765" cy="646481"/>
          </a:xfrm>
          <a:prstGeom prst="rect">
            <a:avLst/>
          </a:prstGeom>
          <a:noFill/>
          <a:ln/>
        </p:spPr>
        <p:txBody>
          <a:bodyPr wrap="square" lIns="0" tIns="0" rIns="0" bIns="0" rtlCol="0" anchor="ctr"/>
          <a:lstStyle/>
          <a:p>
            <a:pPr marL="0" indent="0">
              <a:lnSpc>
                <a:spcPct val="95000"/>
              </a:lnSpc>
              <a:buNone/>
            </a:pPr>
            <a:r>
              <a:rPr lang="en-US" sz="1340" i="1" dirty="0">
                <a:solidFill>
                  <a:srgbClr val="5B6672"/>
                </a:solidFill>
                <a:latin typeface="Calibri" pitchFamily="34" charset="0"/>
                <a:ea typeface="Calibri" pitchFamily="34" charset="-122"/>
                <a:cs typeface="Calibri" pitchFamily="34" charset="-120"/>
              </a:rPr>
              <a:t>Step 2 — preparation, preprocessing or fabrication</a:t>
            </a:r>
            <a:endParaRPr lang="en-US" sz="1340" dirty="0"/>
          </a:p>
        </p:txBody>
      </p:sp>
      <p:sp>
        <p:nvSpPr>
          <p:cNvPr id="39" name="Shape 37"/>
          <p:cNvSpPr/>
          <p:nvPr/>
        </p:nvSpPr>
        <p:spPr>
          <a:xfrm>
            <a:off x="3882542" y="12798857"/>
            <a:ext cx="181051" cy="103327"/>
          </a:xfrm>
          <a:prstGeom prst="downArrow">
            <a:avLst/>
          </a:prstGeom>
          <a:solidFill>
            <a:srgbClr val="DCE0E6"/>
          </a:solidFill>
          <a:ln/>
        </p:spPr>
        <p:txBody>
          <a:bodyPr/>
          <a:lstStyle/>
          <a:p>
            <a:endParaRPr lang="en-US"/>
          </a:p>
        </p:txBody>
      </p:sp>
      <p:sp>
        <p:nvSpPr>
          <p:cNvPr id="40" name="Shape 38"/>
          <p:cNvSpPr/>
          <p:nvPr/>
        </p:nvSpPr>
        <p:spPr>
          <a:xfrm>
            <a:off x="943661" y="12918643"/>
            <a:ext cx="6058814" cy="646481"/>
          </a:xfrm>
          <a:prstGeom prst="roundRect">
            <a:avLst>
              <a:gd name="adj" fmla="val 8487"/>
            </a:avLst>
          </a:prstGeom>
          <a:solidFill>
            <a:srgbClr val="FFFFFF"/>
          </a:solidFill>
          <a:ln w="13970">
            <a:solidFill>
              <a:srgbClr val="8C1D2F"/>
            </a:solidFill>
            <a:prstDash val="solid"/>
          </a:ln>
        </p:spPr>
        <p:txBody>
          <a:bodyPr/>
          <a:lstStyle/>
          <a:p>
            <a:endParaRPr lang="en-US"/>
          </a:p>
        </p:txBody>
      </p:sp>
      <p:sp>
        <p:nvSpPr>
          <p:cNvPr id="41" name="Shape 39"/>
          <p:cNvSpPr/>
          <p:nvPr/>
        </p:nvSpPr>
        <p:spPr>
          <a:xfrm>
            <a:off x="1111910" y="13047574"/>
            <a:ext cx="387706" cy="387706"/>
          </a:xfrm>
          <a:prstGeom prst="ellipse">
            <a:avLst/>
          </a:prstGeom>
          <a:solidFill>
            <a:srgbClr val="8C1D2F"/>
          </a:solidFill>
          <a:ln/>
        </p:spPr>
        <p:txBody>
          <a:bodyPr/>
          <a:lstStyle/>
          <a:p>
            <a:endParaRPr lang="en-US"/>
          </a:p>
        </p:txBody>
      </p:sp>
      <p:sp>
        <p:nvSpPr>
          <p:cNvPr id="42" name="Text 40"/>
          <p:cNvSpPr/>
          <p:nvPr/>
        </p:nvSpPr>
        <p:spPr>
          <a:xfrm>
            <a:off x="1111910" y="13047574"/>
            <a:ext cx="387706" cy="387706"/>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3</a:t>
            </a:r>
            <a:endParaRPr lang="en-US" sz="1270" dirty="0"/>
          </a:p>
        </p:txBody>
      </p:sp>
      <p:sp>
        <p:nvSpPr>
          <p:cNvPr id="43" name="Text 41"/>
          <p:cNvSpPr/>
          <p:nvPr/>
        </p:nvSpPr>
        <p:spPr>
          <a:xfrm>
            <a:off x="1616659" y="12918643"/>
            <a:ext cx="5204765" cy="646481"/>
          </a:xfrm>
          <a:prstGeom prst="rect">
            <a:avLst/>
          </a:prstGeom>
          <a:noFill/>
          <a:ln/>
        </p:spPr>
        <p:txBody>
          <a:bodyPr wrap="square" lIns="0" tIns="0" rIns="0" bIns="0" rtlCol="0" anchor="ctr"/>
          <a:lstStyle/>
          <a:p>
            <a:pPr marL="0" indent="0">
              <a:lnSpc>
                <a:spcPct val="95000"/>
              </a:lnSpc>
              <a:buNone/>
            </a:pPr>
            <a:r>
              <a:rPr lang="en-US" sz="1340" i="1" dirty="0">
                <a:solidFill>
                  <a:srgbClr val="5B6672"/>
                </a:solidFill>
                <a:latin typeface="Calibri" pitchFamily="34" charset="0"/>
                <a:ea typeface="Calibri" pitchFamily="34" charset="-122"/>
                <a:cs typeface="Calibri" pitchFamily="34" charset="-120"/>
              </a:rPr>
              <a:t>Step 3 — the core method, model or experiment</a:t>
            </a:r>
            <a:endParaRPr lang="en-US" sz="1340" dirty="0"/>
          </a:p>
        </p:txBody>
      </p:sp>
      <p:sp>
        <p:nvSpPr>
          <p:cNvPr id="44" name="Shape 42"/>
          <p:cNvSpPr/>
          <p:nvPr/>
        </p:nvSpPr>
        <p:spPr>
          <a:xfrm>
            <a:off x="3882542" y="13581583"/>
            <a:ext cx="181051" cy="103327"/>
          </a:xfrm>
          <a:prstGeom prst="downArrow">
            <a:avLst/>
          </a:prstGeom>
          <a:solidFill>
            <a:srgbClr val="DCE0E6"/>
          </a:solidFill>
          <a:ln/>
        </p:spPr>
        <p:txBody>
          <a:bodyPr/>
          <a:lstStyle/>
          <a:p>
            <a:endParaRPr lang="en-US"/>
          </a:p>
        </p:txBody>
      </p:sp>
      <p:sp>
        <p:nvSpPr>
          <p:cNvPr id="45" name="Shape 43"/>
          <p:cNvSpPr/>
          <p:nvPr/>
        </p:nvSpPr>
        <p:spPr>
          <a:xfrm>
            <a:off x="943661" y="13701370"/>
            <a:ext cx="6058814" cy="646481"/>
          </a:xfrm>
          <a:prstGeom prst="roundRect">
            <a:avLst>
              <a:gd name="adj" fmla="val 8487"/>
            </a:avLst>
          </a:prstGeom>
          <a:solidFill>
            <a:srgbClr val="FFFFFF"/>
          </a:solidFill>
          <a:ln w="13970">
            <a:solidFill>
              <a:srgbClr val="C9962C"/>
            </a:solidFill>
            <a:prstDash val="solid"/>
          </a:ln>
        </p:spPr>
        <p:txBody>
          <a:bodyPr/>
          <a:lstStyle/>
          <a:p>
            <a:endParaRPr lang="en-US"/>
          </a:p>
        </p:txBody>
      </p:sp>
      <p:sp>
        <p:nvSpPr>
          <p:cNvPr id="46" name="Shape 44"/>
          <p:cNvSpPr/>
          <p:nvPr/>
        </p:nvSpPr>
        <p:spPr>
          <a:xfrm>
            <a:off x="1111910" y="13830300"/>
            <a:ext cx="387706" cy="387706"/>
          </a:xfrm>
          <a:prstGeom prst="ellipse">
            <a:avLst/>
          </a:prstGeom>
          <a:solidFill>
            <a:srgbClr val="C9962C"/>
          </a:solidFill>
          <a:ln/>
        </p:spPr>
        <p:txBody>
          <a:bodyPr/>
          <a:lstStyle/>
          <a:p>
            <a:endParaRPr lang="en-US"/>
          </a:p>
        </p:txBody>
      </p:sp>
      <p:sp>
        <p:nvSpPr>
          <p:cNvPr id="47" name="Text 45"/>
          <p:cNvSpPr/>
          <p:nvPr/>
        </p:nvSpPr>
        <p:spPr>
          <a:xfrm>
            <a:off x="1111910" y="13830300"/>
            <a:ext cx="387706" cy="387706"/>
          </a:xfrm>
          <a:prstGeom prst="rect">
            <a:avLst/>
          </a:prstGeom>
          <a:noFill/>
          <a:ln/>
        </p:spPr>
        <p:txBody>
          <a:bodyPr wrap="square" lIns="0" tIns="0" rIns="0" bIns="0" rtlCol="0" anchor="ctr"/>
          <a:lstStyle/>
          <a:p>
            <a:pPr marL="0" indent="0" algn="ctr">
              <a:buNone/>
            </a:pPr>
            <a:r>
              <a:rPr lang="en-US" sz="1270" b="1" dirty="0">
                <a:solidFill>
                  <a:srgbClr val="5E101E"/>
                </a:solidFill>
                <a:latin typeface="Calibri" pitchFamily="34" charset="0"/>
                <a:ea typeface="Calibri" pitchFamily="34" charset="-122"/>
                <a:cs typeface="Calibri" pitchFamily="34" charset="-120"/>
              </a:rPr>
              <a:t>4</a:t>
            </a:r>
            <a:endParaRPr lang="en-US" sz="1270" dirty="0"/>
          </a:p>
        </p:txBody>
      </p:sp>
      <p:sp>
        <p:nvSpPr>
          <p:cNvPr id="48" name="Text 46"/>
          <p:cNvSpPr/>
          <p:nvPr/>
        </p:nvSpPr>
        <p:spPr>
          <a:xfrm>
            <a:off x="1616659" y="13701370"/>
            <a:ext cx="5204765" cy="646481"/>
          </a:xfrm>
          <a:prstGeom prst="rect">
            <a:avLst/>
          </a:prstGeom>
          <a:noFill/>
          <a:ln/>
        </p:spPr>
        <p:txBody>
          <a:bodyPr wrap="square" lIns="0" tIns="0" rIns="0" bIns="0" rtlCol="0" anchor="ctr"/>
          <a:lstStyle/>
          <a:p>
            <a:pPr marL="0" indent="0">
              <a:lnSpc>
                <a:spcPct val="95000"/>
              </a:lnSpc>
              <a:buNone/>
            </a:pPr>
            <a:r>
              <a:rPr lang="en-US" sz="1340" i="1" dirty="0">
                <a:solidFill>
                  <a:srgbClr val="5B6672"/>
                </a:solidFill>
                <a:latin typeface="Calibri" pitchFamily="34" charset="0"/>
                <a:ea typeface="Calibri" pitchFamily="34" charset="-122"/>
                <a:cs typeface="Calibri" pitchFamily="34" charset="-120"/>
              </a:rPr>
              <a:t>Step 4 — analysis, optimisation or compression</a:t>
            </a:r>
            <a:endParaRPr lang="en-US" sz="1340" dirty="0"/>
          </a:p>
        </p:txBody>
      </p:sp>
      <p:sp>
        <p:nvSpPr>
          <p:cNvPr id="49" name="Shape 47"/>
          <p:cNvSpPr/>
          <p:nvPr/>
        </p:nvSpPr>
        <p:spPr>
          <a:xfrm>
            <a:off x="3882542" y="14364310"/>
            <a:ext cx="181051" cy="103327"/>
          </a:xfrm>
          <a:prstGeom prst="downArrow">
            <a:avLst/>
          </a:prstGeom>
          <a:solidFill>
            <a:srgbClr val="DCE0E6"/>
          </a:solidFill>
          <a:ln/>
        </p:spPr>
        <p:txBody>
          <a:bodyPr/>
          <a:lstStyle/>
          <a:p>
            <a:endParaRPr lang="en-US"/>
          </a:p>
        </p:txBody>
      </p:sp>
      <p:sp>
        <p:nvSpPr>
          <p:cNvPr id="50" name="Shape 48"/>
          <p:cNvSpPr/>
          <p:nvPr/>
        </p:nvSpPr>
        <p:spPr>
          <a:xfrm>
            <a:off x="943661" y="14483182"/>
            <a:ext cx="6058814" cy="646481"/>
          </a:xfrm>
          <a:prstGeom prst="roundRect">
            <a:avLst>
              <a:gd name="adj" fmla="val 8487"/>
            </a:avLst>
          </a:prstGeom>
          <a:solidFill>
            <a:srgbClr val="FFFFFF"/>
          </a:solidFill>
          <a:ln w="13970">
            <a:solidFill>
              <a:srgbClr val="8C1D2F"/>
            </a:solidFill>
            <a:prstDash val="solid"/>
          </a:ln>
        </p:spPr>
        <p:txBody>
          <a:bodyPr/>
          <a:lstStyle/>
          <a:p>
            <a:endParaRPr lang="en-US"/>
          </a:p>
        </p:txBody>
      </p:sp>
      <p:sp>
        <p:nvSpPr>
          <p:cNvPr id="51" name="Shape 49"/>
          <p:cNvSpPr/>
          <p:nvPr/>
        </p:nvSpPr>
        <p:spPr>
          <a:xfrm>
            <a:off x="1111910" y="14613026"/>
            <a:ext cx="387706" cy="387706"/>
          </a:xfrm>
          <a:prstGeom prst="ellipse">
            <a:avLst/>
          </a:prstGeom>
          <a:solidFill>
            <a:srgbClr val="8C1D2F"/>
          </a:solidFill>
          <a:ln/>
        </p:spPr>
        <p:txBody>
          <a:bodyPr/>
          <a:lstStyle/>
          <a:p>
            <a:endParaRPr lang="en-US"/>
          </a:p>
        </p:txBody>
      </p:sp>
      <p:sp>
        <p:nvSpPr>
          <p:cNvPr id="52" name="Text 50"/>
          <p:cNvSpPr/>
          <p:nvPr/>
        </p:nvSpPr>
        <p:spPr>
          <a:xfrm>
            <a:off x="1111910" y="14613026"/>
            <a:ext cx="387706" cy="387706"/>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5</a:t>
            </a:r>
            <a:endParaRPr lang="en-US" sz="1270" dirty="0"/>
          </a:p>
        </p:txBody>
      </p:sp>
      <p:sp>
        <p:nvSpPr>
          <p:cNvPr id="53" name="Text 51"/>
          <p:cNvSpPr/>
          <p:nvPr/>
        </p:nvSpPr>
        <p:spPr>
          <a:xfrm>
            <a:off x="1616659" y="14483182"/>
            <a:ext cx="5204765" cy="646481"/>
          </a:xfrm>
          <a:prstGeom prst="rect">
            <a:avLst/>
          </a:prstGeom>
          <a:noFill/>
          <a:ln/>
        </p:spPr>
        <p:txBody>
          <a:bodyPr wrap="square" lIns="0" tIns="0" rIns="0" bIns="0" rtlCol="0" anchor="ctr"/>
          <a:lstStyle/>
          <a:p>
            <a:pPr marL="0" indent="0">
              <a:lnSpc>
                <a:spcPct val="95000"/>
              </a:lnSpc>
              <a:buNone/>
            </a:pPr>
            <a:r>
              <a:rPr lang="en-US" sz="1340" i="1" dirty="0">
                <a:solidFill>
                  <a:srgbClr val="5B6672"/>
                </a:solidFill>
                <a:latin typeface="Calibri" pitchFamily="34" charset="0"/>
                <a:ea typeface="Calibri" pitchFamily="34" charset="-122"/>
                <a:cs typeface="Calibri" pitchFamily="34" charset="-120"/>
              </a:rPr>
              <a:t>Step 5 — testing, deployment or validation</a:t>
            </a:r>
            <a:endParaRPr lang="en-US" sz="1340" dirty="0"/>
          </a:p>
        </p:txBody>
      </p:sp>
      <p:sp>
        <p:nvSpPr>
          <p:cNvPr id="54" name="Shape 52"/>
          <p:cNvSpPr/>
          <p:nvPr/>
        </p:nvSpPr>
        <p:spPr>
          <a:xfrm>
            <a:off x="581558" y="15776143"/>
            <a:ext cx="6783019" cy="4137660"/>
          </a:xfrm>
          <a:prstGeom prst="roundRect">
            <a:avLst>
              <a:gd name="adj" fmla="val 663"/>
            </a:avLst>
          </a:prstGeom>
          <a:solidFill>
            <a:srgbClr val="F4F5F7"/>
          </a:solidFill>
          <a:ln w="9525">
            <a:solidFill>
              <a:srgbClr val="DCE0E6"/>
            </a:solidFill>
            <a:prstDash val="solid"/>
          </a:ln>
        </p:spPr>
        <p:txBody>
          <a:bodyPr/>
          <a:lstStyle/>
          <a:p>
            <a:endParaRPr lang="en-US"/>
          </a:p>
        </p:txBody>
      </p:sp>
      <p:sp>
        <p:nvSpPr>
          <p:cNvPr id="55" name="Shape 53"/>
          <p:cNvSpPr/>
          <p:nvPr/>
        </p:nvSpPr>
        <p:spPr>
          <a:xfrm>
            <a:off x="892454" y="16034918"/>
            <a:ext cx="465430" cy="465430"/>
          </a:xfrm>
          <a:prstGeom prst="ellipse">
            <a:avLst/>
          </a:prstGeom>
          <a:solidFill>
            <a:srgbClr val="8C1D2F"/>
          </a:solidFill>
          <a:ln/>
        </p:spPr>
        <p:txBody>
          <a:bodyPr/>
          <a:lstStyle/>
          <a:p>
            <a:endParaRPr lang="en-US"/>
          </a:p>
        </p:txBody>
      </p:sp>
      <p:sp>
        <p:nvSpPr>
          <p:cNvPr id="56" name="Text 54"/>
          <p:cNvSpPr/>
          <p:nvPr/>
        </p:nvSpPr>
        <p:spPr>
          <a:xfrm>
            <a:off x="892454" y="16034918"/>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4</a:t>
            </a:r>
            <a:endParaRPr lang="en-US" sz="1270" dirty="0"/>
          </a:p>
        </p:txBody>
      </p:sp>
      <p:sp>
        <p:nvSpPr>
          <p:cNvPr id="57" name="Text 55"/>
          <p:cNvSpPr/>
          <p:nvPr/>
        </p:nvSpPr>
        <p:spPr>
          <a:xfrm>
            <a:off x="1486814" y="15996514"/>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EXPERIMENTAL SETUP</a:t>
            </a:r>
            <a:endParaRPr lang="en-US" sz="2120" dirty="0"/>
          </a:p>
        </p:txBody>
      </p:sp>
      <p:sp>
        <p:nvSpPr>
          <p:cNvPr id="58" name="Text 56"/>
          <p:cNvSpPr/>
          <p:nvPr/>
        </p:nvSpPr>
        <p:spPr>
          <a:xfrm>
            <a:off x="1486814" y="16500348"/>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Your rig, circuit, CAD model or system architecture.</a:t>
            </a:r>
            <a:endParaRPr lang="en-US" sz="1130" dirty="0"/>
          </a:p>
        </p:txBody>
      </p:sp>
      <p:sp>
        <p:nvSpPr>
          <p:cNvPr id="59" name="Shape 57"/>
          <p:cNvSpPr/>
          <p:nvPr/>
        </p:nvSpPr>
        <p:spPr>
          <a:xfrm>
            <a:off x="943661" y="16784726"/>
            <a:ext cx="6058814" cy="2379269"/>
          </a:xfrm>
          <a:prstGeom prst="roundRect">
            <a:avLst>
              <a:gd name="adj" fmla="val 1153"/>
            </a:avLst>
          </a:prstGeom>
          <a:solidFill>
            <a:srgbClr val="FFFFFF"/>
          </a:solidFill>
          <a:ln w="12700">
            <a:solidFill>
              <a:srgbClr val="8C1D2F"/>
            </a:solidFill>
            <a:prstDash val="dash"/>
          </a:ln>
        </p:spPr>
        <p:txBody>
          <a:bodyPr/>
          <a:lstStyle/>
          <a:p>
            <a:endParaRPr lang="en-US"/>
          </a:p>
        </p:txBody>
      </p:sp>
      <p:sp>
        <p:nvSpPr>
          <p:cNvPr id="60" name="Text 58"/>
          <p:cNvSpPr/>
          <p:nvPr/>
        </p:nvSpPr>
        <p:spPr>
          <a:xfrm>
            <a:off x="1202436" y="16784726"/>
            <a:ext cx="5541264" cy="2379269"/>
          </a:xfrm>
          <a:prstGeom prst="rect">
            <a:avLst/>
          </a:prstGeom>
          <a:noFill/>
          <a:ln/>
        </p:spPr>
        <p:txBody>
          <a:bodyPr wrap="square" lIns="0" tIns="0" rIns="0" bIns="0" rtlCol="0" anchor="ctr"/>
          <a:lstStyle/>
          <a:p>
            <a:pPr marL="0" indent="0" algn="ctr">
              <a:lnSpc>
                <a:spcPct val="120000"/>
              </a:lnSpc>
              <a:buNone/>
            </a:pPr>
            <a:r>
              <a:rPr lang="en-US" sz="1270" i="1" dirty="0">
                <a:solidFill>
                  <a:srgbClr val="8A94A0"/>
                </a:solidFill>
                <a:latin typeface="Calibri" pitchFamily="34" charset="0"/>
                <a:ea typeface="Calibri" pitchFamily="34" charset="-122"/>
                <a:cs typeface="Calibri" pitchFamily="34" charset="-120"/>
              </a:rPr>
              <a:t>[ DRAW OR DROP YOUR SETUP DIAGRAM HERE ]</a:t>
            </a:r>
            <a:endParaRPr lang="en-US" sz="1270" dirty="0"/>
          </a:p>
          <a:p>
            <a:pPr marL="0" indent="0" algn="ctr">
              <a:lnSpc>
                <a:spcPct val="120000"/>
              </a:lnSpc>
              <a:buNone/>
            </a:pPr>
            <a:r>
              <a:rPr lang="en-US" sz="1270" i="1" dirty="0">
                <a:solidFill>
                  <a:srgbClr val="8A94A0"/>
                </a:solidFill>
                <a:latin typeface="Calibri" pitchFamily="34" charset="0"/>
                <a:ea typeface="Calibri" pitchFamily="34" charset="-122"/>
                <a:cs typeface="Calibri" pitchFamily="34" charset="-120"/>
              </a:rPr>
              <a:t>A schematic of your rig, circuit, CAD model or system architecture — minimum 300 dpi</a:t>
            </a:r>
            <a:endParaRPr lang="en-US" sz="1270" dirty="0"/>
          </a:p>
        </p:txBody>
      </p:sp>
      <p:sp>
        <p:nvSpPr>
          <p:cNvPr id="61" name="Text 59"/>
          <p:cNvSpPr/>
          <p:nvPr/>
        </p:nvSpPr>
        <p:spPr>
          <a:xfrm>
            <a:off x="943661" y="19281038"/>
            <a:ext cx="6058814" cy="595274"/>
          </a:xfrm>
          <a:prstGeom prst="rect">
            <a:avLst/>
          </a:prstGeom>
          <a:noFill/>
          <a:ln/>
        </p:spPr>
        <p:txBody>
          <a:bodyPr wrap="square" lIns="0" tIns="0" rIns="0" bIns="0" rtlCol="0" anchor="t"/>
          <a:lstStyle/>
          <a:p>
            <a:pPr marL="0" indent="0">
              <a:lnSpc>
                <a:spcPct val="95000"/>
              </a:lnSpc>
              <a:buNone/>
            </a:pPr>
            <a:r>
              <a:rPr lang="en-US" sz="1200" i="1" dirty="0">
                <a:solidFill>
                  <a:srgbClr val="5B6672"/>
                </a:solidFill>
                <a:latin typeface="Calibri" pitchFamily="34" charset="0"/>
                <a:ea typeface="Calibri" pitchFamily="34" charset="-122"/>
                <a:cs typeface="Calibri" pitchFamily="34" charset="-120"/>
              </a:rPr>
              <a:t>Fig. 1 — One-line caption. Say what the reader should notice, not just what the object is.</a:t>
            </a:r>
            <a:endParaRPr lang="en-US" sz="1200" dirty="0"/>
          </a:p>
        </p:txBody>
      </p:sp>
      <p:sp>
        <p:nvSpPr>
          <p:cNvPr id="62" name="Shape 60"/>
          <p:cNvSpPr/>
          <p:nvPr/>
        </p:nvSpPr>
        <p:spPr>
          <a:xfrm>
            <a:off x="7752283" y="4137660"/>
            <a:ext cx="6783019" cy="5948172"/>
          </a:xfrm>
          <a:prstGeom prst="roundRect">
            <a:avLst>
              <a:gd name="adj" fmla="val 461"/>
            </a:avLst>
          </a:prstGeom>
          <a:solidFill>
            <a:srgbClr val="F4F5F7"/>
          </a:solidFill>
          <a:ln w="9525">
            <a:solidFill>
              <a:srgbClr val="DCE0E6"/>
            </a:solidFill>
            <a:prstDash val="solid"/>
          </a:ln>
        </p:spPr>
        <p:txBody>
          <a:bodyPr/>
          <a:lstStyle/>
          <a:p>
            <a:endParaRPr lang="en-US"/>
          </a:p>
        </p:txBody>
      </p:sp>
      <p:sp>
        <p:nvSpPr>
          <p:cNvPr id="63" name="Shape 61"/>
          <p:cNvSpPr/>
          <p:nvPr/>
        </p:nvSpPr>
        <p:spPr>
          <a:xfrm>
            <a:off x="8063179" y="4396435"/>
            <a:ext cx="465430" cy="465430"/>
          </a:xfrm>
          <a:prstGeom prst="ellipse">
            <a:avLst/>
          </a:prstGeom>
          <a:solidFill>
            <a:srgbClr val="8C1D2F"/>
          </a:solidFill>
          <a:ln/>
        </p:spPr>
        <p:txBody>
          <a:bodyPr/>
          <a:lstStyle/>
          <a:p>
            <a:endParaRPr lang="en-US"/>
          </a:p>
        </p:txBody>
      </p:sp>
      <p:sp>
        <p:nvSpPr>
          <p:cNvPr id="64" name="Text 62"/>
          <p:cNvSpPr/>
          <p:nvPr/>
        </p:nvSpPr>
        <p:spPr>
          <a:xfrm>
            <a:off x="8063179" y="4396435"/>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5</a:t>
            </a:r>
            <a:endParaRPr lang="en-US" sz="1270" dirty="0"/>
          </a:p>
        </p:txBody>
      </p:sp>
      <p:sp>
        <p:nvSpPr>
          <p:cNvPr id="65" name="Text 63"/>
          <p:cNvSpPr/>
          <p:nvPr/>
        </p:nvSpPr>
        <p:spPr>
          <a:xfrm>
            <a:off x="8657539" y="4358030"/>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RESULTS &amp; DISCUSSION</a:t>
            </a:r>
            <a:endParaRPr lang="en-US" sz="2120" dirty="0"/>
          </a:p>
        </p:txBody>
      </p:sp>
      <p:sp>
        <p:nvSpPr>
          <p:cNvPr id="66" name="Text 64"/>
          <p:cNvSpPr/>
          <p:nvPr/>
        </p:nvSpPr>
        <p:spPr>
          <a:xfrm>
            <a:off x="8657539" y="4861865"/>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Lead with numbers. One chart beats three paragraphs.</a:t>
            </a:r>
            <a:endParaRPr lang="en-US" sz="1130" dirty="0"/>
          </a:p>
        </p:txBody>
      </p:sp>
      <p:sp>
        <p:nvSpPr>
          <p:cNvPr id="67" name="Shape 65"/>
          <p:cNvSpPr/>
          <p:nvPr/>
        </p:nvSpPr>
        <p:spPr>
          <a:xfrm>
            <a:off x="8114386" y="5147158"/>
            <a:ext cx="1899209" cy="1292962"/>
          </a:xfrm>
          <a:prstGeom prst="roundRect">
            <a:avLst>
              <a:gd name="adj" fmla="val 4243"/>
            </a:avLst>
          </a:prstGeom>
          <a:solidFill>
            <a:srgbClr val="8C1D2F"/>
          </a:solidFill>
          <a:ln w="12700">
            <a:solidFill>
              <a:srgbClr val="8C1D2F"/>
            </a:solidFill>
            <a:prstDash val="solid"/>
          </a:ln>
        </p:spPr>
        <p:txBody>
          <a:bodyPr/>
          <a:lstStyle/>
          <a:p>
            <a:endParaRPr lang="en-US"/>
          </a:p>
        </p:txBody>
      </p:sp>
      <p:sp>
        <p:nvSpPr>
          <p:cNvPr id="68" name="Text 66"/>
          <p:cNvSpPr/>
          <p:nvPr/>
        </p:nvSpPr>
        <p:spPr>
          <a:xfrm>
            <a:off x="8114386" y="5250485"/>
            <a:ext cx="1899209" cy="646481"/>
          </a:xfrm>
          <a:prstGeom prst="rect">
            <a:avLst/>
          </a:prstGeom>
          <a:noFill/>
          <a:ln/>
        </p:spPr>
        <p:txBody>
          <a:bodyPr wrap="square" lIns="0" tIns="0" rIns="0" bIns="0" rtlCol="0" anchor="ctr"/>
          <a:lstStyle/>
          <a:p>
            <a:pPr marL="0" indent="0" algn="ctr">
              <a:buNone/>
            </a:pPr>
            <a:r>
              <a:rPr lang="en-US" sz="3390" b="1" dirty="0">
                <a:solidFill>
                  <a:srgbClr val="FFFFFF"/>
                </a:solidFill>
                <a:latin typeface="Cambria" pitchFamily="34" charset="0"/>
                <a:ea typeface="Cambria" pitchFamily="34" charset="-122"/>
                <a:cs typeface="Cambria" pitchFamily="34" charset="-120"/>
              </a:rPr>
              <a:t>00.0</a:t>
            </a:r>
            <a:endParaRPr lang="en-US" sz="3390" dirty="0"/>
          </a:p>
        </p:txBody>
      </p:sp>
      <p:sp>
        <p:nvSpPr>
          <p:cNvPr id="69" name="Text 67"/>
          <p:cNvSpPr/>
          <p:nvPr/>
        </p:nvSpPr>
        <p:spPr>
          <a:xfrm>
            <a:off x="8114386" y="5896966"/>
            <a:ext cx="1899209" cy="465430"/>
          </a:xfrm>
          <a:prstGeom prst="rect">
            <a:avLst/>
          </a:prstGeom>
          <a:noFill/>
          <a:ln/>
        </p:spPr>
        <p:txBody>
          <a:bodyPr wrap="square" lIns="0" tIns="0" rIns="0" bIns="0" rtlCol="0" anchor="t"/>
          <a:lstStyle/>
          <a:p>
            <a:pPr marL="0" indent="0" algn="ctr">
              <a:lnSpc>
                <a:spcPct val="90000"/>
              </a:lnSpc>
              <a:buNone/>
            </a:pPr>
            <a:r>
              <a:rPr lang="en-US" sz="1130" b="1" kern="0" spc="60" dirty="0">
                <a:solidFill>
                  <a:srgbClr val="F2D9DE"/>
                </a:solidFill>
                <a:latin typeface="Calibri" pitchFamily="34" charset="0"/>
                <a:ea typeface="Calibri" pitchFamily="34" charset="-122"/>
                <a:cs typeface="Calibri" pitchFamily="34" charset="-120"/>
              </a:rPr>
              <a:t>YOUR KEY</a:t>
            </a:r>
            <a:endParaRPr lang="en-US" sz="1130" dirty="0"/>
          </a:p>
          <a:p>
            <a:pPr marL="0" indent="0" algn="ctr">
              <a:lnSpc>
                <a:spcPct val="90000"/>
              </a:lnSpc>
              <a:buNone/>
            </a:pPr>
            <a:r>
              <a:rPr lang="en-US" sz="1130" b="1" kern="0" spc="60" dirty="0">
                <a:solidFill>
                  <a:srgbClr val="F2D9DE"/>
                </a:solidFill>
                <a:latin typeface="Calibri" pitchFamily="34" charset="0"/>
                <a:ea typeface="Calibri" pitchFamily="34" charset="-122"/>
                <a:cs typeface="Calibri" pitchFamily="34" charset="-120"/>
              </a:rPr>
              <a:t>METRIC</a:t>
            </a:r>
            <a:endParaRPr lang="en-US" sz="1130" dirty="0"/>
          </a:p>
        </p:txBody>
      </p:sp>
      <p:sp>
        <p:nvSpPr>
          <p:cNvPr id="70" name="Shape 68"/>
          <p:cNvSpPr/>
          <p:nvPr/>
        </p:nvSpPr>
        <p:spPr>
          <a:xfrm>
            <a:off x="10194646" y="5147158"/>
            <a:ext cx="1899209" cy="1292962"/>
          </a:xfrm>
          <a:prstGeom prst="roundRect">
            <a:avLst>
              <a:gd name="adj" fmla="val 4243"/>
            </a:avLst>
          </a:prstGeom>
          <a:solidFill>
            <a:srgbClr val="FFFFFF"/>
          </a:solidFill>
          <a:ln w="12700">
            <a:solidFill>
              <a:srgbClr val="DCE0E6"/>
            </a:solidFill>
            <a:prstDash val="solid"/>
          </a:ln>
        </p:spPr>
        <p:txBody>
          <a:bodyPr/>
          <a:lstStyle/>
          <a:p>
            <a:endParaRPr lang="en-US"/>
          </a:p>
        </p:txBody>
      </p:sp>
      <p:sp>
        <p:nvSpPr>
          <p:cNvPr id="71" name="Text 69"/>
          <p:cNvSpPr/>
          <p:nvPr/>
        </p:nvSpPr>
        <p:spPr>
          <a:xfrm>
            <a:off x="10194646" y="5250485"/>
            <a:ext cx="1899209" cy="646481"/>
          </a:xfrm>
          <a:prstGeom prst="rect">
            <a:avLst/>
          </a:prstGeom>
          <a:noFill/>
          <a:ln/>
        </p:spPr>
        <p:txBody>
          <a:bodyPr wrap="square" lIns="0" tIns="0" rIns="0" bIns="0" rtlCol="0" anchor="ctr"/>
          <a:lstStyle/>
          <a:p>
            <a:pPr marL="0" indent="0" algn="ctr">
              <a:buNone/>
            </a:pPr>
            <a:r>
              <a:rPr lang="en-US" sz="3390" b="1" dirty="0">
                <a:solidFill>
                  <a:srgbClr val="8C1D2F"/>
                </a:solidFill>
                <a:latin typeface="Cambria" pitchFamily="34" charset="0"/>
                <a:ea typeface="Cambria" pitchFamily="34" charset="-122"/>
                <a:cs typeface="Cambria" pitchFamily="34" charset="-120"/>
              </a:rPr>
              <a:t>00%</a:t>
            </a:r>
            <a:endParaRPr lang="en-US" sz="3390" dirty="0"/>
          </a:p>
        </p:txBody>
      </p:sp>
      <p:sp>
        <p:nvSpPr>
          <p:cNvPr id="72" name="Text 70"/>
          <p:cNvSpPr/>
          <p:nvPr/>
        </p:nvSpPr>
        <p:spPr>
          <a:xfrm>
            <a:off x="10194646" y="5896966"/>
            <a:ext cx="1899209" cy="465430"/>
          </a:xfrm>
          <a:prstGeom prst="rect">
            <a:avLst/>
          </a:prstGeom>
          <a:noFill/>
          <a:ln/>
        </p:spPr>
        <p:txBody>
          <a:bodyPr wrap="square" lIns="0" tIns="0" rIns="0" bIns="0" rtlCol="0" anchor="t"/>
          <a:lstStyle/>
          <a:p>
            <a:pPr marL="0" indent="0" algn="ctr">
              <a:lnSpc>
                <a:spcPct val="90000"/>
              </a:lnSpc>
              <a:buNone/>
            </a:pPr>
            <a:r>
              <a:rPr lang="en-US" sz="1130" b="1" kern="0" spc="60" dirty="0">
                <a:solidFill>
                  <a:srgbClr val="5B6672"/>
                </a:solidFill>
                <a:latin typeface="Calibri" pitchFamily="34" charset="0"/>
                <a:ea typeface="Calibri" pitchFamily="34" charset="-122"/>
                <a:cs typeface="Calibri" pitchFamily="34" charset="-120"/>
              </a:rPr>
              <a:t>IMPROVEMENT</a:t>
            </a:r>
            <a:endParaRPr lang="en-US" sz="1130" dirty="0"/>
          </a:p>
          <a:p>
            <a:pPr marL="0" indent="0" algn="ctr">
              <a:lnSpc>
                <a:spcPct val="90000"/>
              </a:lnSpc>
              <a:buNone/>
            </a:pPr>
            <a:r>
              <a:rPr lang="en-US" sz="1130" b="1" kern="0" spc="60" dirty="0">
                <a:solidFill>
                  <a:srgbClr val="5B6672"/>
                </a:solidFill>
                <a:latin typeface="Calibri" pitchFamily="34" charset="0"/>
                <a:ea typeface="Calibri" pitchFamily="34" charset="-122"/>
                <a:cs typeface="Calibri" pitchFamily="34" charset="-120"/>
              </a:rPr>
              <a:t>OVER BASELINE</a:t>
            </a:r>
            <a:endParaRPr lang="en-US" sz="1130" dirty="0"/>
          </a:p>
        </p:txBody>
      </p:sp>
      <p:sp>
        <p:nvSpPr>
          <p:cNvPr id="73" name="Shape 71"/>
          <p:cNvSpPr/>
          <p:nvPr/>
        </p:nvSpPr>
        <p:spPr>
          <a:xfrm>
            <a:off x="12273991" y="5147158"/>
            <a:ext cx="1899209" cy="1292962"/>
          </a:xfrm>
          <a:prstGeom prst="roundRect">
            <a:avLst>
              <a:gd name="adj" fmla="val 4243"/>
            </a:avLst>
          </a:prstGeom>
          <a:solidFill>
            <a:srgbClr val="FFFFFF"/>
          </a:solidFill>
          <a:ln w="12700">
            <a:solidFill>
              <a:srgbClr val="DCE0E6"/>
            </a:solidFill>
            <a:prstDash val="solid"/>
          </a:ln>
        </p:spPr>
        <p:txBody>
          <a:bodyPr/>
          <a:lstStyle/>
          <a:p>
            <a:endParaRPr lang="en-US"/>
          </a:p>
        </p:txBody>
      </p:sp>
      <p:sp>
        <p:nvSpPr>
          <p:cNvPr id="74" name="Text 72"/>
          <p:cNvSpPr/>
          <p:nvPr/>
        </p:nvSpPr>
        <p:spPr>
          <a:xfrm>
            <a:off x="12273991" y="5250485"/>
            <a:ext cx="1899209" cy="646481"/>
          </a:xfrm>
          <a:prstGeom prst="rect">
            <a:avLst/>
          </a:prstGeom>
          <a:noFill/>
          <a:ln/>
        </p:spPr>
        <p:txBody>
          <a:bodyPr wrap="square" lIns="0" tIns="0" rIns="0" bIns="0" rtlCol="0" anchor="ctr"/>
          <a:lstStyle/>
          <a:p>
            <a:pPr marL="0" indent="0" algn="ctr">
              <a:buNone/>
            </a:pPr>
            <a:r>
              <a:rPr lang="en-US" sz="3390" b="1" dirty="0">
                <a:solidFill>
                  <a:srgbClr val="8C1D2F"/>
                </a:solidFill>
                <a:latin typeface="Cambria" pitchFamily="34" charset="0"/>
                <a:ea typeface="Cambria" pitchFamily="34" charset="-122"/>
                <a:cs typeface="Cambria" pitchFamily="34" charset="-120"/>
              </a:rPr>
              <a:t>0.00</a:t>
            </a:r>
            <a:endParaRPr lang="en-US" sz="3390" dirty="0"/>
          </a:p>
        </p:txBody>
      </p:sp>
      <p:sp>
        <p:nvSpPr>
          <p:cNvPr id="75" name="Text 73"/>
          <p:cNvSpPr/>
          <p:nvPr/>
        </p:nvSpPr>
        <p:spPr>
          <a:xfrm>
            <a:off x="12273991" y="5896966"/>
            <a:ext cx="1899209" cy="465430"/>
          </a:xfrm>
          <a:prstGeom prst="rect">
            <a:avLst/>
          </a:prstGeom>
          <a:noFill/>
          <a:ln/>
        </p:spPr>
        <p:txBody>
          <a:bodyPr wrap="square" lIns="0" tIns="0" rIns="0" bIns="0" rtlCol="0" anchor="t"/>
          <a:lstStyle/>
          <a:p>
            <a:pPr marL="0" indent="0" algn="ctr">
              <a:lnSpc>
                <a:spcPct val="90000"/>
              </a:lnSpc>
              <a:buNone/>
            </a:pPr>
            <a:r>
              <a:rPr lang="en-US" sz="1130" b="1" kern="0" spc="60" dirty="0">
                <a:solidFill>
                  <a:srgbClr val="5B6672"/>
                </a:solidFill>
                <a:latin typeface="Calibri" pitchFamily="34" charset="0"/>
                <a:ea typeface="Calibri" pitchFamily="34" charset="-122"/>
                <a:cs typeface="Calibri" pitchFamily="34" charset="-120"/>
              </a:rPr>
              <a:t>SECOND</a:t>
            </a:r>
            <a:endParaRPr lang="en-US" sz="1130" dirty="0"/>
          </a:p>
          <a:p>
            <a:pPr marL="0" indent="0" algn="ctr">
              <a:lnSpc>
                <a:spcPct val="90000"/>
              </a:lnSpc>
              <a:buNone/>
            </a:pPr>
            <a:r>
              <a:rPr lang="en-US" sz="1130" b="1" kern="0" spc="60" dirty="0">
                <a:solidFill>
                  <a:srgbClr val="5B6672"/>
                </a:solidFill>
                <a:latin typeface="Calibri" pitchFamily="34" charset="0"/>
                <a:ea typeface="Calibri" pitchFamily="34" charset="-122"/>
                <a:cs typeface="Calibri" pitchFamily="34" charset="-120"/>
              </a:rPr>
              <a:t>METRIC</a:t>
            </a:r>
            <a:endParaRPr lang="en-US" sz="1130" dirty="0"/>
          </a:p>
        </p:txBody>
      </p:sp>
      <p:sp>
        <p:nvSpPr>
          <p:cNvPr id="76" name="Shape 74"/>
          <p:cNvSpPr/>
          <p:nvPr/>
        </p:nvSpPr>
        <p:spPr>
          <a:xfrm>
            <a:off x="8114386" y="6646774"/>
            <a:ext cx="6058814" cy="2715768"/>
          </a:xfrm>
          <a:prstGeom prst="roundRect">
            <a:avLst>
              <a:gd name="adj" fmla="val 1010"/>
            </a:avLst>
          </a:prstGeom>
          <a:solidFill>
            <a:srgbClr val="FFFFFF"/>
          </a:solidFill>
          <a:ln w="12700">
            <a:solidFill>
              <a:srgbClr val="8C1D2F"/>
            </a:solidFill>
            <a:prstDash val="dash"/>
          </a:ln>
        </p:spPr>
        <p:txBody>
          <a:bodyPr/>
          <a:lstStyle/>
          <a:p>
            <a:endParaRPr lang="en-US"/>
          </a:p>
        </p:txBody>
      </p:sp>
      <p:sp>
        <p:nvSpPr>
          <p:cNvPr id="77" name="Text 75"/>
          <p:cNvSpPr/>
          <p:nvPr/>
        </p:nvSpPr>
        <p:spPr>
          <a:xfrm>
            <a:off x="8114386" y="6646774"/>
            <a:ext cx="6058814" cy="2715768"/>
          </a:xfrm>
          <a:prstGeom prst="rect">
            <a:avLst/>
          </a:prstGeom>
          <a:noFill/>
          <a:ln/>
        </p:spPr>
        <p:txBody>
          <a:bodyPr wrap="square" lIns="0" tIns="0" rIns="0" bIns="0" rtlCol="0" anchor="ctr"/>
          <a:lstStyle/>
          <a:p>
            <a:pPr marL="0" indent="0" algn="ctr">
              <a:buNone/>
            </a:pPr>
            <a:r>
              <a:rPr lang="en-US" sz="1270" i="1" dirty="0">
                <a:solidFill>
                  <a:srgbClr val="8A94A0"/>
                </a:solidFill>
                <a:latin typeface="Calibri" pitchFamily="34" charset="0"/>
                <a:ea typeface="Calibri" pitchFamily="34" charset="-122"/>
                <a:cs typeface="Calibri" pitchFamily="34" charset="-120"/>
              </a:rPr>
              <a:t>[ INSERT YOUR CHART, GRAPH OR RESULT TABLE HERE ]</a:t>
            </a:r>
            <a:endParaRPr lang="en-US" sz="1270" dirty="0"/>
          </a:p>
        </p:txBody>
      </p:sp>
      <p:sp>
        <p:nvSpPr>
          <p:cNvPr id="78" name="Text 76"/>
          <p:cNvSpPr/>
          <p:nvPr/>
        </p:nvSpPr>
        <p:spPr>
          <a:xfrm>
            <a:off x="8114386" y="9440266"/>
            <a:ext cx="6058814" cy="595274"/>
          </a:xfrm>
          <a:prstGeom prst="rect">
            <a:avLst/>
          </a:prstGeom>
          <a:noFill/>
          <a:ln/>
        </p:spPr>
        <p:txBody>
          <a:bodyPr wrap="square" lIns="0" tIns="0" rIns="0" bIns="0" rtlCol="0" anchor="t"/>
          <a:lstStyle/>
          <a:p>
            <a:pPr marL="0" indent="0">
              <a:lnSpc>
                <a:spcPct val="98000"/>
              </a:lnSpc>
              <a:buNone/>
            </a:pPr>
            <a:r>
              <a:rPr lang="en-US" sz="1200" i="1" dirty="0">
                <a:solidFill>
                  <a:srgbClr val="5B6672"/>
                </a:solidFill>
                <a:latin typeface="Calibri" pitchFamily="34" charset="0"/>
                <a:ea typeface="Calibri" pitchFamily="34" charset="-122"/>
                <a:cs typeface="Calibri" pitchFamily="34" charset="-120"/>
              </a:rPr>
              <a:t>Two or three lines interpreting the chart. What is the trend, why does it occur, and where does your method stop working?</a:t>
            </a:r>
            <a:endParaRPr lang="en-US" sz="1200" dirty="0"/>
          </a:p>
        </p:txBody>
      </p:sp>
      <p:sp>
        <p:nvSpPr>
          <p:cNvPr id="79" name="Shape 77"/>
          <p:cNvSpPr/>
          <p:nvPr/>
        </p:nvSpPr>
        <p:spPr>
          <a:xfrm>
            <a:off x="7752283" y="10474452"/>
            <a:ext cx="6783019" cy="3362249"/>
          </a:xfrm>
          <a:prstGeom prst="roundRect">
            <a:avLst>
              <a:gd name="adj" fmla="val 816"/>
            </a:avLst>
          </a:prstGeom>
          <a:solidFill>
            <a:srgbClr val="FBEDF0"/>
          </a:solidFill>
          <a:ln w="20320">
            <a:solidFill>
              <a:srgbClr val="8C1D2F"/>
            </a:solidFill>
            <a:prstDash val="solid"/>
          </a:ln>
        </p:spPr>
        <p:txBody>
          <a:bodyPr/>
          <a:lstStyle/>
          <a:p>
            <a:endParaRPr lang="en-US"/>
          </a:p>
        </p:txBody>
      </p:sp>
      <p:sp>
        <p:nvSpPr>
          <p:cNvPr id="80" name="Shape 78"/>
          <p:cNvSpPr/>
          <p:nvPr/>
        </p:nvSpPr>
        <p:spPr>
          <a:xfrm>
            <a:off x="8063179" y="10733227"/>
            <a:ext cx="465430" cy="465430"/>
          </a:xfrm>
          <a:prstGeom prst="ellipse">
            <a:avLst/>
          </a:prstGeom>
          <a:solidFill>
            <a:srgbClr val="8C1D2F"/>
          </a:solidFill>
          <a:ln/>
        </p:spPr>
        <p:txBody>
          <a:bodyPr/>
          <a:lstStyle/>
          <a:p>
            <a:endParaRPr lang="en-US"/>
          </a:p>
        </p:txBody>
      </p:sp>
      <p:sp>
        <p:nvSpPr>
          <p:cNvPr id="81" name="Text 79"/>
          <p:cNvSpPr/>
          <p:nvPr/>
        </p:nvSpPr>
        <p:spPr>
          <a:xfrm>
            <a:off x="8063179" y="10733227"/>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6</a:t>
            </a:r>
            <a:endParaRPr lang="en-US" sz="1270" dirty="0"/>
          </a:p>
        </p:txBody>
      </p:sp>
      <p:sp>
        <p:nvSpPr>
          <p:cNvPr id="82" name="Text 80"/>
          <p:cNvSpPr/>
          <p:nvPr/>
        </p:nvSpPr>
        <p:spPr>
          <a:xfrm>
            <a:off x="8657539" y="10694822"/>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NOVELTY &amp; OUR OWN CONTRIBUTION</a:t>
            </a:r>
            <a:endParaRPr lang="en-US" sz="2120" dirty="0"/>
          </a:p>
        </p:txBody>
      </p:sp>
      <p:sp>
        <p:nvSpPr>
          <p:cNvPr id="83" name="Text 81"/>
          <p:cNvSpPr/>
          <p:nvPr/>
        </p:nvSpPr>
        <p:spPr>
          <a:xfrm>
            <a:off x="8657539" y="11198657"/>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MANDATORY. Also state plainly what you reused and cited.</a:t>
            </a:r>
            <a:endParaRPr lang="en-US" sz="1130" dirty="0"/>
          </a:p>
        </p:txBody>
      </p:sp>
      <p:sp>
        <p:nvSpPr>
          <p:cNvPr id="84" name="Text 82"/>
          <p:cNvSpPr/>
          <p:nvPr/>
        </p:nvSpPr>
        <p:spPr>
          <a:xfrm>
            <a:off x="8114386" y="11483035"/>
            <a:ext cx="6058814" cy="2198218"/>
          </a:xfrm>
          <a:prstGeom prst="rect">
            <a:avLst/>
          </a:prstGeom>
          <a:noFill/>
          <a:ln/>
        </p:spPr>
        <p:txBody>
          <a:bodyPr wrap="square" lIns="0" tIns="0" rIns="0" bIns="0" rtlCol="0" anchor="t"/>
          <a:lstStyle/>
          <a:p>
            <a:pPr marL="215532" indent="-215532" algn="just">
              <a:lnSpc>
                <a:spcPct val="102000"/>
              </a:lnSpc>
              <a:spcAft>
                <a:spcPts val="420"/>
              </a:spcAft>
              <a:buSzPct val="100000"/>
              <a:buChar char="•"/>
            </a:pPr>
            <a:r>
              <a:rPr lang="en-US" sz="1480" i="1" dirty="0">
                <a:solidFill>
                  <a:srgbClr val="5B6672"/>
                </a:solidFill>
                <a:latin typeface="Calibri" pitchFamily="34" charset="0"/>
                <a:ea typeface="Calibri" pitchFamily="34" charset="-122"/>
                <a:cs typeface="Calibri" pitchFamily="34" charset="-120"/>
              </a:rPr>
              <a:t>What did YOU build, measure, derive, fabricate or code that did not exist before?</a:t>
            </a:r>
            <a:endParaRPr lang="en-US" sz="1480" dirty="0"/>
          </a:p>
          <a:p>
            <a:pPr marL="215532" indent="-215532" algn="just">
              <a:lnSpc>
                <a:spcPct val="102000"/>
              </a:lnSpc>
              <a:spcAft>
                <a:spcPts val="420"/>
              </a:spcAft>
              <a:buSzPct val="100000"/>
              <a:buChar char="•"/>
            </a:pPr>
            <a:r>
              <a:rPr lang="en-US" sz="1480" i="1" dirty="0">
                <a:solidFill>
                  <a:srgbClr val="5B6672"/>
                </a:solidFill>
                <a:latin typeface="Calibri" pitchFamily="34" charset="0"/>
                <a:ea typeface="Calibri" pitchFamily="34" charset="-122"/>
                <a:cs typeface="Calibri" pitchFamily="34" charset="-120"/>
              </a:rPr>
              <a:t>What did you change about an existing method, and what did that change buy you?</a:t>
            </a:r>
            <a:endParaRPr lang="en-US" sz="1480" dirty="0"/>
          </a:p>
          <a:p>
            <a:pPr marL="215532" indent="-215532" algn="just">
              <a:lnSpc>
                <a:spcPct val="102000"/>
              </a:lnSpc>
              <a:spcAft>
                <a:spcPts val="420"/>
              </a:spcAft>
              <a:buSzPct val="100000"/>
              <a:buChar char="•"/>
            </a:pPr>
            <a:r>
              <a:rPr lang="en-US" sz="1480" i="1" dirty="0">
                <a:solidFill>
                  <a:srgbClr val="5B6672"/>
                </a:solidFill>
                <a:latin typeface="Calibri" pitchFamily="34" charset="0"/>
                <a:ea typeface="Calibri" pitchFamily="34" charset="-122"/>
                <a:cs typeface="Calibri" pitchFamily="34" charset="-120"/>
              </a:rPr>
              <a:t>Which result here is yours alone, and how was it verified?</a:t>
            </a:r>
            <a:endParaRPr lang="en-US" sz="1480" dirty="0"/>
          </a:p>
          <a:p>
            <a:pPr marL="215532" indent="-215532" algn="just">
              <a:lnSpc>
                <a:spcPct val="102000"/>
              </a:lnSpc>
              <a:spcAft>
                <a:spcPts val="420"/>
              </a:spcAft>
              <a:buSzPct val="100000"/>
              <a:buChar char="•"/>
            </a:pPr>
            <a:r>
              <a:rPr lang="en-US" sz="1480" i="1" dirty="0">
                <a:solidFill>
                  <a:srgbClr val="5B6672"/>
                </a:solidFill>
                <a:latin typeface="Calibri" pitchFamily="34" charset="0"/>
                <a:ea typeface="Calibri" pitchFamily="34" charset="-122"/>
                <a:cs typeface="Calibri" pitchFamily="34" charset="-120"/>
              </a:rPr>
              <a:t>State honestly what you reused from published work — and cite it. This earns marks; hiding it loses them.</a:t>
            </a:r>
            <a:endParaRPr lang="en-US" sz="1480" dirty="0"/>
          </a:p>
        </p:txBody>
      </p:sp>
      <p:sp>
        <p:nvSpPr>
          <p:cNvPr id="85" name="Shape 83"/>
          <p:cNvSpPr/>
          <p:nvPr/>
        </p:nvSpPr>
        <p:spPr>
          <a:xfrm>
            <a:off x="7752283" y="14224406"/>
            <a:ext cx="6783019" cy="3362249"/>
          </a:xfrm>
          <a:prstGeom prst="roundRect">
            <a:avLst>
              <a:gd name="adj" fmla="val 816"/>
            </a:avLst>
          </a:prstGeom>
          <a:solidFill>
            <a:srgbClr val="F4F5F7"/>
          </a:solidFill>
          <a:ln w="9525">
            <a:solidFill>
              <a:srgbClr val="DCE0E6"/>
            </a:solidFill>
            <a:prstDash val="solid"/>
          </a:ln>
        </p:spPr>
        <p:txBody>
          <a:bodyPr/>
          <a:lstStyle/>
          <a:p>
            <a:endParaRPr lang="en-US"/>
          </a:p>
        </p:txBody>
      </p:sp>
      <p:sp>
        <p:nvSpPr>
          <p:cNvPr id="86" name="Shape 84"/>
          <p:cNvSpPr/>
          <p:nvPr/>
        </p:nvSpPr>
        <p:spPr>
          <a:xfrm>
            <a:off x="8063179" y="14483182"/>
            <a:ext cx="465430" cy="465430"/>
          </a:xfrm>
          <a:prstGeom prst="ellipse">
            <a:avLst/>
          </a:prstGeom>
          <a:solidFill>
            <a:srgbClr val="8C1D2F"/>
          </a:solidFill>
          <a:ln/>
        </p:spPr>
        <p:txBody>
          <a:bodyPr/>
          <a:lstStyle/>
          <a:p>
            <a:endParaRPr lang="en-US"/>
          </a:p>
        </p:txBody>
      </p:sp>
      <p:sp>
        <p:nvSpPr>
          <p:cNvPr id="87" name="Text 85"/>
          <p:cNvSpPr/>
          <p:nvPr/>
        </p:nvSpPr>
        <p:spPr>
          <a:xfrm>
            <a:off x="8063179" y="14483182"/>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7</a:t>
            </a:r>
            <a:endParaRPr lang="en-US" sz="1270" dirty="0"/>
          </a:p>
        </p:txBody>
      </p:sp>
      <p:sp>
        <p:nvSpPr>
          <p:cNvPr id="88" name="Text 86"/>
          <p:cNvSpPr/>
          <p:nvPr/>
        </p:nvSpPr>
        <p:spPr>
          <a:xfrm>
            <a:off x="8657539" y="14444777"/>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CONCLUSION &amp; IMPACT</a:t>
            </a:r>
            <a:endParaRPr lang="en-US" sz="2120" dirty="0"/>
          </a:p>
        </p:txBody>
      </p:sp>
      <p:sp>
        <p:nvSpPr>
          <p:cNvPr id="89" name="Text 87"/>
          <p:cNvSpPr/>
          <p:nvPr/>
        </p:nvSpPr>
        <p:spPr>
          <a:xfrm>
            <a:off x="8657539" y="14948611"/>
            <a:ext cx="5554066" cy="258775"/>
          </a:xfrm>
          <a:prstGeom prst="rect">
            <a:avLst/>
          </a:prstGeom>
          <a:noFill/>
          <a:ln/>
        </p:spPr>
        <p:txBody>
          <a:bodyPr wrap="square" lIns="0" tIns="0" rIns="0" bIns="0" rtlCol="0" anchor="ctr"/>
          <a:lstStyle/>
          <a:p>
            <a:pPr marL="0" indent="0">
              <a:buNone/>
            </a:pPr>
            <a:r>
              <a:rPr lang="en-US" sz="1130" i="1" dirty="0">
                <a:solidFill>
                  <a:srgbClr val="8A94A0"/>
                </a:solidFill>
                <a:latin typeface="Calibri" pitchFamily="34" charset="0"/>
                <a:ea typeface="Calibri" pitchFamily="34" charset="-122"/>
                <a:cs typeface="Calibri" pitchFamily="34" charset="-120"/>
              </a:rPr>
              <a:t>What it means, who benefits, and which SDG.</a:t>
            </a:r>
            <a:endParaRPr lang="en-US" sz="1130" dirty="0"/>
          </a:p>
        </p:txBody>
      </p:sp>
      <p:sp>
        <p:nvSpPr>
          <p:cNvPr id="90" name="Text 88"/>
          <p:cNvSpPr/>
          <p:nvPr/>
        </p:nvSpPr>
        <p:spPr>
          <a:xfrm>
            <a:off x="8114386" y="15232990"/>
            <a:ext cx="6058814" cy="1758391"/>
          </a:xfrm>
          <a:prstGeom prst="rect">
            <a:avLst/>
          </a:prstGeom>
          <a:noFill/>
          <a:ln/>
        </p:spPr>
        <p:txBody>
          <a:bodyPr wrap="square" lIns="0" tIns="0" rIns="0" bIns="0" rtlCol="0" anchor="t"/>
          <a:lstStyle/>
          <a:p>
            <a:pPr marL="0" indent="0" algn="just">
              <a:lnSpc>
                <a:spcPct val="102000"/>
              </a:lnSpc>
              <a:buNone/>
            </a:pPr>
            <a:r>
              <a:rPr lang="en-US" sz="1480" i="1" dirty="0">
                <a:solidFill>
                  <a:srgbClr val="5B6672"/>
                </a:solidFill>
                <a:latin typeface="Calibri" pitchFamily="34" charset="0"/>
                <a:ea typeface="Calibri" pitchFamily="34" charset="-122"/>
                <a:cs typeface="Calibri" pitchFamily="34" charset="-120"/>
              </a:rPr>
              <a:t>Answer the question you posed in the problem statement, then say who benefits and by how much. Two or three sentences — this section combines your conclusion with the impact of the work.</a:t>
            </a:r>
            <a:endParaRPr lang="en-US" sz="1480" dirty="0"/>
          </a:p>
        </p:txBody>
      </p:sp>
      <p:sp>
        <p:nvSpPr>
          <p:cNvPr id="91" name="Shape 89"/>
          <p:cNvSpPr/>
          <p:nvPr/>
        </p:nvSpPr>
        <p:spPr>
          <a:xfrm>
            <a:off x="8114386" y="17043502"/>
            <a:ext cx="1099109" cy="362102"/>
          </a:xfrm>
          <a:prstGeom prst="roundRect">
            <a:avLst>
              <a:gd name="adj" fmla="val 126263"/>
            </a:avLst>
          </a:prstGeom>
          <a:solidFill>
            <a:srgbClr val="8C1D2F"/>
          </a:solidFill>
          <a:ln/>
        </p:spPr>
        <p:txBody>
          <a:bodyPr/>
          <a:lstStyle/>
          <a:p>
            <a:endParaRPr lang="en-US"/>
          </a:p>
        </p:txBody>
      </p:sp>
      <p:sp>
        <p:nvSpPr>
          <p:cNvPr id="92" name="Text 90"/>
          <p:cNvSpPr/>
          <p:nvPr/>
        </p:nvSpPr>
        <p:spPr>
          <a:xfrm>
            <a:off x="8114386" y="17043502"/>
            <a:ext cx="1099109" cy="362102"/>
          </a:xfrm>
          <a:prstGeom prst="rect">
            <a:avLst/>
          </a:prstGeom>
          <a:noFill/>
          <a:ln/>
        </p:spPr>
        <p:txBody>
          <a:bodyPr wrap="square" lIns="0" tIns="0" rIns="0" bIns="0" rtlCol="0" anchor="ctr"/>
          <a:lstStyle/>
          <a:p>
            <a:pPr marL="0" indent="0" algn="ctr">
              <a:buNone/>
            </a:pPr>
            <a:r>
              <a:rPr lang="en-US" sz="1130" b="1" dirty="0">
                <a:solidFill>
                  <a:srgbClr val="FFFFFF"/>
                </a:solidFill>
                <a:latin typeface="Calibri" pitchFamily="34" charset="0"/>
                <a:ea typeface="Calibri" pitchFamily="34" charset="-122"/>
                <a:cs typeface="Calibri" pitchFamily="34" charset="-120"/>
              </a:rPr>
              <a:t>SDG __</a:t>
            </a:r>
            <a:endParaRPr lang="en-US" sz="1130" dirty="0"/>
          </a:p>
        </p:txBody>
      </p:sp>
      <p:sp>
        <p:nvSpPr>
          <p:cNvPr id="93" name="Shape 91"/>
          <p:cNvSpPr/>
          <p:nvPr/>
        </p:nvSpPr>
        <p:spPr>
          <a:xfrm>
            <a:off x="9343339" y="17043502"/>
            <a:ext cx="1099109" cy="362102"/>
          </a:xfrm>
          <a:prstGeom prst="roundRect">
            <a:avLst>
              <a:gd name="adj" fmla="val 126263"/>
            </a:avLst>
          </a:prstGeom>
          <a:solidFill>
            <a:srgbClr val="8C1D2F"/>
          </a:solidFill>
          <a:ln/>
        </p:spPr>
        <p:txBody>
          <a:bodyPr/>
          <a:lstStyle/>
          <a:p>
            <a:endParaRPr lang="en-US"/>
          </a:p>
        </p:txBody>
      </p:sp>
      <p:sp>
        <p:nvSpPr>
          <p:cNvPr id="94" name="Text 92"/>
          <p:cNvSpPr/>
          <p:nvPr/>
        </p:nvSpPr>
        <p:spPr>
          <a:xfrm>
            <a:off x="9343339" y="17043502"/>
            <a:ext cx="1099109" cy="362102"/>
          </a:xfrm>
          <a:prstGeom prst="rect">
            <a:avLst/>
          </a:prstGeom>
          <a:noFill/>
          <a:ln/>
        </p:spPr>
        <p:txBody>
          <a:bodyPr wrap="square" lIns="0" tIns="0" rIns="0" bIns="0" rtlCol="0" anchor="ctr"/>
          <a:lstStyle/>
          <a:p>
            <a:pPr marL="0" indent="0" algn="ctr">
              <a:buNone/>
            </a:pPr>
            <a:r>
              <a:rPr lang="en-US" sz="1130" b="1" dirty="0">
                <a:solidFill>
                  <a:srgbClr val="FFFFFF"/>
                </a:solidFill>
                <a:latin typeface="Calibri" pitchFamily="34" charset="0"/>
                <a:ea typeface="Calibri" pitchFamily="34" charset="-122"/>
                <a:cs typeface="Calibri" pitchFamily="34" charset="-120"/>
              </a:rPr>
              <a:t>SDG __</a:t>
            </a:r>
            <a:endParaRPr lang="en-US" sz="1130" dirty="0"/>
          </a:p>
        </p:txBody>
      </p:sp>
      <p:sp>
        <p:nvSpPr>
          <p:cNvPr id="95" name="Text 93"/>
          <p:cNvSpPr/>
          <p:nvPr/>
        </p:nvSpPr>
        <p:spPr>
          <a:xfrm>
            <a:off x="10636301" y="17043502"/>
            <a:ext cx="3536899" cy="362102"/>
          </a:xfrm>
          <a:prstGeom prst="rect">
            <a:avLst/>
          </a:prstGeom>
          <a:noFill/>
          <a:ln/>
        </p:spPr>
        <p:txBody>
          <a:bodyPr wrap="square" lIns="0" tIns="0" rIns="0" bIns="0" rtlCol="0" anchor="ctr"/>
          <a:lstStyle/>
          <a:p>
            <a:pPr marL="0" indent="0">
              <a:buNone/>
            </a:pPr>
            <a:r>
              <a:rPr lang="en-US" sz="1200" i="1" dirty="0">
                <a:solidFill>
                  <a:srgbClr val="5B6672"/>
                </a:solidFill>
                <a:latin typeface="Calibri" pitchFamily="34" charset="0"/>
                <a:ea typeface="Calibri" pitchFamily="34" charset="-122"/>
                <a:cs typeface="Calibri" pitchFamily="34" charset="-120"/>
              </a:rPr>
              <a:t>Name the Sustainable Development Goals your work maps to</a:t>
            </a:r>
            <a:endParaRPr lang="en-US" sz="1200" dirty="0"/>
          </a:p>
        </p:txBody>
      </p:sp>
      <p:sp>
        <p:nvSpPr>
          <p:cNvPr id="96" name="Shape 94"/>
          <p:cNvSpPr/>
          <p:nvPr/>
        </p:nvSpPr>
        <p:spPr>
          <a:xfrm>
            <a:off x="7752283" y="17975275"/>
            <a:ext cx="6783019" cy="1939442"/>
          </a:xfrm>
          <a:prstGeom prst="roundRect">
            <a:avLst>
              <a:gd name="adj" fmla="val 1414"/>
            </a:avLst>
          </a:prstGeom>
          <a:solidFill>
            <a:srgbClr val="F4F5F7"/>
          </a:solidFill>
          <a:ln w="9525">
            <a:solidFill>
              <a:srgbClr val="DCE0E6"/>
            </a:solidFill>
            <a:prstDash val="solid"/>
          </a:ln>
        </p:spPr>
        <p:txBody>
          <a:bodyPr/>
          <a:lstStyle/>
          <a:p>
            <a:endParaRPr lang="en-US"/>
          </a:p>
        </p:txBody>
      </p:sp>
      <p:sp>
        <p:nvSpPr>
          <p:cNvPr id="97" name="Shape 95"/>
          <p:cNvSpPr/>
          <p:nvPr/>
        </p:nvSpPr>
        <p:spPr>
          <a:xfrm>
            <a:off x="8063179" y="18233136"/>
            <a:ext cx="465430" cy="465430"/>
          </a:xfrm>
          <a:prstGeom prst="ellipse">
            <a:avLst/>
          </a:prstGeom>
          <a:solidFill>
            <a:srgbClr val="8C1D2F"/>
          </a:solidFill>
          <a:ln/>
        </p:spPr>
        <p:txBody>
          <a:bodyPr/>
          <a:lstStyle/>
          <a:p>
            <a:endParaRPr lang="en-US"/>
          </a:p>
        </p:txBody>
      </p:sp>
      <p:sp>
        <p:nvSpPr>
          <p:cNvPr id="98" name="Text 96"/>
          <p:cNvSpPr/>
          <p:nvPr/>
        </p:nvSpPr>
        <p:spPr>
          <a:xfrm>
            <a:off x="8063179" y="18233136"/>
            <a:ext cx="465430" cy="465430"/>
          </a:xfrm>
          <a:prstGeom prst="rect">
            <a:avLst/>
          </a:prstGeom>
          <a:noFill/>
          <a:ln/>
        </p:spPr>
        <p:txBody>
          <a:bodyPr wrap="square" lIns="0" tIns="0" rIns="0" bIns="0" rtlCol="0" anchor="ctr"/>
          <a:lstStyle/>
          <a:p>
            <a:pPr marL="0" indent="0" algn="ctr">
              <a:buNone/>
            </a:pPr>
            <a:r>
              <a:rPr lang="en-US" sz="1270" b="1" dirty="0">
                <a:solidFill>
                  <a:srgbClr val="FFFFFF"/>
                </a:solidFill>
                <a:latin typeface="Calibri" pitchFamily="34" charset="0"/>
                <a:ea typeface="Calibri" pitchFamily="34" charset="-122"/>
                <a:cs typeface="Calibri" pitchFamily="34" charset="-120"/>
              </a:rPr>
              <a:t>8</a:t>
            </a:r>
            <a:endParaRPr lang="en-US" sz="1270" dirty="0"/>
          </a:p>
        </p:txBody>
      </p:sp>
      <p:sp>
        <p:nvSpPr>
          <p:cNvPr id="99" name="Text 97"/>
          <p:cNvSpPr/>
          <p:nvPr/>
        </p:nvSpPr>
        <p:spPr>
          <a:xfrm>
            <a:off x="8657539" y="18194731"/>
            <a:ext cx="5554066" cy="543154"/>
          </a:xfrm>
          <a:prstGeom prst="rect">
            <a:avLst/>
          </a:prstGeom>
          <a:noFill/>
          <a:ln/>
        </p:spPr>
        <p:txBody>
          <a:bodyPr wrap="square" lIns="0" tIns="0" rIns="0" bIns="0" rtlCol="0" anchor="ctr"/>
          <a:lstStyle/>
          <a:p>
            <a:pPr marL="0" indent="0">
              <a:buNone/>
            </a:pPr>
            <a:r>
              <a:rPr lang="en-US" sz="2120" b="1" kern="0" spc="40" dirty="0">
                <a:solidFill>
                  <a:srgbClr val="8C1D2F"/>
                </a:solidFill>
                <a:latin typeface="Cambria" pitchFamily="34" charset="0"/>
                <a:ea typeface="Cambria" pitchFamily="34" charset="-122"/>
                <a:cs typeface="Cambria" pitchFamily="34" charset="-120"/>
              </a:rPr>
              <a:t>REFERENCES  (IEEE style, max 4)</a:t>
            </a:r>
            <a:endParaRPr lang="en-US" sz="2120" dirty="0"/>
          </a:p>
        </p:txBody>
      </p:sp>
      <p:sp>
        <p:nvSpPr>
          <p:cNvPr id="100" name="Text 98"/>
          <p:cNvSpPr/>
          <p:nvPr/>
        </p:nvSpPr>
        <p:spPr>
          <a:xfrm>
            <a:off x="8114386" y="18776290"/>
            <a:ext cx="6058814" cy="1034186"/>
          </a:xfrm>
          <a:prstGeom prst="rect">
            <a:avLst/>
          </a:prstGeom>
          <a:noFill/>
          <a:ln/>
        </p:spPr>
        <p:txBody>
          <a:bodyPr wrap="square" lIns="0" tIns="0" rIns="0" bIns="0" rtlCol="0" anchor="t"/>
          <a:lstStyle/>
          <a:p>
            <a:pPr marL="0" indent="0">
              <a:lnSpc>
                <a:spcPct val="95000"/>
              </a:lnSpc>
              <a:buNone/>
            </a:pPr>
            <a:r>
              <a:rPr lang="en-US" sz="1100" i="1" dirty="0">
                <a:solidFill>
                  <a:srgbClr val="8A94A0"/>
                </a:solidFill>
                <a:latin typeface="Calibri" pitchFamily="34" charset="0"/>
                <a:ea typeface="Calibri" pitchFamily="34" charset="-122"/>
                <a:cs typeface="Calibri" pitchFamily="34" charset="-120"/>
              </a:rPr>
              <a:t>[1] Author(s), "Title of paper," Journal Name, vol. x, no. x, pp. xx–xx, Year.</a:t>
            </a:r>
            <a:endParaRPr lang="en-US" sz="1100" dirty="0"/>
          </a:p>
          <a:p>
            <a:pPr marL="0" indent="0">
              <a:lnSpc>
                <a:spcPct val="95000"/>
              </a:lnSpc>
              <a:buNone/>
            </a:pPr>
            <a:r>
              <a:rPr lang="en-US" sz="1100" i="1" dirty="0">
                <a:solidFill>
                  <a:srgbClr val="8A94A0"/>
                </a:solidFill>
                <a:latin typeface="Calibri" pitchFamily="34" charset="0"/>
                <a:ea typeface="Calibri" pitchFamily="34" charset="-122"/>
                <a:cs typeface="Calibri" pitchFamily="34" charset="-120"/>
              </a:rPr>
              <a:t>[2] Author(s), "Title of paper," in Proc. Conference Name, Year, pp. xx–xx.</a:t>
            </a:r>
            <a:endParaRPr lang="en-US" sz="1100" dirty="0"/>
          </a:p>
          <a:p>
            <a:pPr marL="0" indent="0">
              <a:lnSpc>
                <a:spcPct val="95000"/>
              </a:lnSpc>
              <a:buNone/>
            </a:pPr>
            <a:r>
              <a:rPr lang="en-US" sz="1100" i="1" dirty="0">
                <a:solidFill>
                  <a:srgbClr val="8A94A0"/>
                </a:solidFill>
                <a:latin typeface="Calibri" pitchFamily="34" charset="0"/>
                <a:ea typeface="Calibri" pitchFamily="34" charset="-122"/>
                <a:cs typeface="Calibri" pitchFamily="34" charset="-120"/>
              </a:rPr>
              <a:t>[3] Author(s), Title of Book, nth ed. City: Publisher, Year.</a:t>
            </a:r>
            <a:endParaRPr lang="en-US" sz="1100" dirty="0"/>
          </a:p>
          <a:p>
            <a:pPr marL="0" indent="0">
              <a:lnSpc>
                <a:spcPct val="95000"/>
              </a:lnSpc>
              <a:buNone/>
            </a:pPr>
            <a:r>
              <a:rPr lang="en-US" sz="1100" i="1" dirty="0">
                <a:solidFill>
                  <a:srgbClr val="8A94A0"/>
                </a:solidFill>
                <a:latin typeface="Calibri" pitchFamily="34" charset="0"/>
                <a:ea typeface="Calibri" pitchFamily="34" charset="-122"/>
                <a:cs typeface="Calibri" pitchFamily="34" charset="-120"/>
              </a:rPr>
              <a:t>[4] Standard/Patent number, Title, Issuing body, Year.</a:t>
            </a:r>
            <a:endParaRPr lang="en-US" sz="1100" dirty="0"/>
          </a:p>
        </p:txBody>
      </p:sp>
      <p:sp>
        <p:nvSpPr>
          <p:cNvPr id="101" name="Shape 99"/>
          <p:cNvSpPr/>
          <p:nvPr/>
        </p:nvSpPr>
        <p:spPr>
          <a:xfrm>
            <a:off x="581558" y="20276820"/>
            <a:ext cx="13952830" cy="672084"/>
          </a:xfrm>
          <a:prstGeom prst="rect">
            <a:avLst/>
          </a:prstGeom>
          <a:solidFill>
            <a:srgbClr val="5E101E"/>
          </a:solidFill>
          <a:ln/>
        </p:spPr>
        <p:txBody>
          <a:bodyPr/>
          <a:lstStyle/>
          <a:p>
            <a:endParaRPr lang="en-US"/>
          </a:p>
        </p:txBody>
      </p:sp>
      <p:sp>
        <p:nvSpPr>
          <p:cNvPr id="103" name="Text 101"/>
          <p:cNvSpPr/>
          <p:nvPr/>
        </p:nvSpPr>
        <p:spPr>
          <a:xfrm>
            <a:off x="762610" y="20367346"/>
            <a:ext cx="491033" cy="491033"/>
          </a:xfrm>
          <a:prstGeom prst="rect">
            <a:avLst/>
          </a:prstGeom>
          <a:noFill/>
          <a:ln/>
        </p:spPr>
        <p:txBody>
          <a:bodyPr wrap="square" lIns="0" tIns="0" rIns="0" bIns="0" rtlCol="0" anchor="ctr"/>
          <a:lstStyle/>
          <a:p>
            <a:pPr marL="0" indent="0" algn="ctr">
              <a:buNone/>
            </a:pPr>
            <a:r>
              <a:rPr lang="en-US" sz="1130" b="1" dirty="0">
                <a:solidFill>
                  <a:srgbClr val="8C1D2F"/>
                </a:solidFill>
                <a:latin typeface="Calibri" pitchFamily="34" charset="0"/>
                <a:ea typeface="Calibri" pitchFamily="34" charset="-122"/>
                <a:cs typeface="Calibri" pitchFamily="34" charset="-120"/>
              </a:rPr>
              <a:t>QR</a:t>
            </a:r>
            <a:endParaRPr lang="en-US" sz="1130" dirty="0"/>
          </a:p>
        </p:txBody>
      </p:sp>
      <p:sp>
        <p:nvSpPr>
          <p:cNvPr id="104" name="Text 102"/>
          <p:cNvSpPr/>
          <p:nvPr/>
        </p:nvSpPr>
        <p:spPr>
          <a:xfrm>
            <a:off x="1435608" y="20354544"/>
            <a:ext cx="3168396" cy="517550"/>
          </a:xfrm>
          <a:prstGeom prst="rect">
            <a:avLst/>
          </a:prstGeom>
          <a:noFill/>
          <a:ln/>
        </p:spPr>
        <p:txBody>
          <a:bodyPr wrap="square" lIns="0" tIns="0" rIns="0" bIns="0" rtlCol="0" anchor="ctr"/>
          <a:lstStyle/>
          <a:p>
            <a:pPr marL="0" indent="0">
              <a:lnSpc>
                <a:spcPct val="92000"/>
              </a:lnSpc>
              <a:buNone/>
            </a:pPr>
            <a:r>
              <a:rPr lang="en-US" sz="1130" dirty="0">
                <a:solidFill>
                  <a:srgbClr val="F2D9DE"/>
                </a:solidFill>
                <a:latin typeface="Calibri" pitchFamily="34" charset="0"/>
                <a:ea typeface="Calibri" pitchFamily="34" charset="-122"/>
                <a:cs typeface="Calibri" pitchFamily="34" charset="-120"/>
              </a:rPr>
              <a:t>Scan for the 90-second demo video, dataset and code repository</a:t>
            </a:r>
            <a:endParaRPr lang="en-US" sz="1130" dirty="0"/>
          </a:p>
        </p:txBody>
      </p:sp>
      <p:sp>
        <p:nvSpPr>
          <p:cNvPr id="105" name="Text 103"/>
          <p:cNvSpPr/>
          <p:nvPr/>
        </p:nvSpPr>
        <p:spPr>
          <a:xfrm>
            <a:off x="4913986" y="20328026"/>
            <a:ext cx="6594653" cy="568757"/>
          </a:xfrm>
          <a:prstGeom prst="rect">
            <a:avLst/>
          </a:prstGeom>
          <a:noFill/>
          <a:ln/>
        </p:spPr>
        <p:txBody>
          <a:bodyPr wrap="square" lIns="0" tIns="0" rIns="0" bIns="0" rtlCol="0" anchor="ctr"/>
          <a:lstStyle/>
          <a:p>
            <a:pPr marL="0" indent="0">
              <a:lnSpc>
                <a:spcPct val="92000"/>
              </a:lnSpc>
              <a:buNone/>
            </a:pPr>
            <a:r>
              <a:rPr lang="en-US" sz="990" dirty="0">
                <a:solidFill>
                  <a:srgbClr val="FFFFFF"/>
                </a:solidFill>
                <a:latin typeface="Calibri" pitchFamily="34" charset="0"/>
                <a:ea typeface="Calibri" pitchFamily="34" charset="-122"/>
                <a:cs typeface="Calibri" pitchFamily="34" charset="-120"/>
              </a:rPr>
              <a:t>DECLARATION: This poster reports work carried out by the named author. All reused material, data and figures are cited. Use of AI tools was limited to language and layout assistance and is declared at registration.</a:t>
            </a:r>
            <a:endParaRPr lang="en-US" sz="990" dirty="0"/>
          </a:p>
        </p:txBody>
      </p:sp>
      <p:sp>
        <p:nvSpPr>
          <p:cNvPr id="106" name="Text 104"/>
          <p:cNvSpPr/>
          <p:nvPr/>
        </p:nvSpPr>
        <p:spPr>
          <a:xfrm>
            <a:off x="11741810" y="20276820"/>
            <a:ext cx="2612441" cy="672084"/>
          </a:xfrm>
          <a:prstGeom prst="rect">
            <a:avLst/>
          </a:prstGeom>
          <a:noFill/>
          <a:ln/>
        </p:spPr>
        <p:txBody>
          <a:bodyPr wrap="square" lIns="0" tIns="0" rIns="0" bIns="0" rtlCol="0" anchor="ctr"/>
          <a:lstStyle/>
          <a:p>
            <a:pPr marL="0" indent="0" algn="r">
              <a:buNone/>
            </a:pPr>
            <a:r>
              <a:rPr lang="en-US" sz="1130" b="1" dirty="0">
                <a:solidFill>
                  <a:srgbClr val="C9962C"/>
                </a:solidFill>
                <a:latin typeface="Calibri" pitchFamily="34" charset="0"/>
                <a:ea typeface="Calibri" pitchFamily="34" charset="-122"/>
                <a:cs typeface="Calibri" pitchFamily="34" charset="-120"/>
              </a:rPr>
              <a:t>SAH 2026  ·  A2 · TWO-COLUMN TEMPLATE</a:t>
            </a:r>
            <a:endParaRPr lang="en-US" sz="11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689</Words>
  <Application>Microsoft Macintosh PowerPoint</Application>
  <PresentationFormat>Custom</PresentationFormat>
  <Paragraphs>78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V Jayakumar - Principal - ASE, Chennai Campus</cp:lastModifiedBy>
  <cp:revision>2</cp:revision>
  <dcterms:created xsi:type="dcterms:W3CDTF">2026-08-25T09:57:06Z</dcterms:created>
  <dcterms:modified xsi:type="dcterms:W3CDTF">2026-08-25T10:21:18Z</dcterms:modified>
</cp:coreProperties>
</file>